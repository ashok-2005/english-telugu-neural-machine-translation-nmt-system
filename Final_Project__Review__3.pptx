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0"/>
  </p:notesMasterIdLst>
  <p:handoutMasterIdLst>
    <p:handoutMasterId r:id="rId31"/>
  </p:handoutMasterIdLst>
  <p:sldIdLst>
    <p:sldId id="256" r:id="rId5"/>
    <p:sldId id="277" r:id="rId6"/>
    <p:sldId id="261" r:id="rId7"/>
    <p:sldId id="262" r:id="rId8"/>
    <p:sldId id="289" r:id="rId9"/>
    <p:sldId id="264" r:id="rId10"/>
    <p:sldId id="258" r:id="rId11"/>
    <p:sldId id="309" r:id="rId12"/>
    <p:sldId id="310" r:id="rId13"/>
    <p:sldId id="302" r:id="rId14"/>
    <p:sldId id="293" r:id="rId15"/>
    <p:sldId id="298" r:id="rId16"/>
    <p:sldId id="299" r:id="rId17"/>
    <p:sldId id="311" r:id="rId18"/>
    <p:sldId id="312" r:id="rId19"/>
    <p:sldId id="300" r:id="rId20"/>
    <p:sldId id="303" r:id="rId21"/>
    <p:sldId id="304" r:id="rId22"/>
    <p:sldId id="305" r:id="rId23"/>
    <p:sldId id="301" r:id="rId24"/>
    <p:sldId id="313" r:id="rId25"/>
    <p:sldId id="307" r:id="rId26"/>
    <p:sldId id="306" r:id="rId27"/>
    <p:sldId id="270" r:id="rId28"/>
    <p:sldId id="30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5" d="100"/>
          <a:sy n="75" d="100"/>
        </p:scale>
        <p:origin x="902" y="43"/>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D9CA47-59EB-42B7-A332-6D23417316A4}" type="doc">
      <dgm:prSet loTypeId="urn:diagrams.loki3.com/VaryingWidthList" loCatId="list" qsTypeId="urn:microsoft.com/office/officeart/2005/8/quickstyle/simple1" qsCatId="simple" csTypeId="urn:microsoft.com/office/officeart/2005/8/colors/accent1_2" csCatId="accent1" phldr="1"/>
      <dgm:spPr/>
      <dgm:t>
        <a:bodyPr/>
        <a:lstStyle/>
        <a:p>
          <a:endParaRPr lang="en-IN"/>
        </a:p>
      </dgm:t>
    </dgm:pt>
    <dgm:pt modelId="{D643608D-04F1-4AFF-B6B1-9BF79081D323}">
      <dgm:prSet phldrT="[Text]" custT="1"/>
      <dgm:spPr/>
      <dgm:t>
        <a:bodyPr/>
        <a:lstStyle/>
        <a:p>
          <a:pPr algn="just">
            <a:buNone/>
          </a:pPr>
          <a:r>
            <a:rPr lang="en-IN" sz="1800" b="0" dirty="0">
              <a:solidFill>
                <a:schemeClr val="tx1"/>
              </a:solidFill>
            </a:rPr>
            <a:t>Framework : Transformer</a:t>
          </a:r>
          <a:endParaRPr lang="en-IN" sz="1800" dirty="0">
            <a:solidFill>
              <a:schemeClr val="tx1"/>
            </a:solidFill>
          </a:endParaRPr>
        </a:p>
      </dgm:t>
    </dgm:pt>
    <dgm:pt modelId="{E239D273-E8E4-4751-BAC8-9DE482389F9D}" type="parTrans" cxnId="{A971671E-C11D-4F04-AEF1-DA50A65E357E}">
      <dgm:prSet/>
      <dgm:spPr/>
      <dgm:t>
        <a:bodyPr/>
        <a:lstStyle/>
        <a:p>
          <a:endParaRPr lang="en-IN"/>
        </a:p>
      </dgm:t>
    </dgm:pt>
    <dgm:pt modelId="{3BD96A9C-78AE-4ACA-94EE-7041A1A83FE9}" type="sibTrans" cxnId="{A971671E-C11D-4F04-AEF1-DA50A65E357E}">
      <dgm:prSet/>
      <dgm:spPr/>
      <dgm:t>
        <a:bodyPr/>
        <a:lstStyle/>
        <a:p>
          <a:endParaRPr lang="en-IN"/>
        </a:p>
      </dgm:t>
    </dgm:pt>
    <dgm:pt modelId="{7CC8FD12-C302-4141-B59E-8516AA4866F9}">
      <dgm:prSet phldrT="[Text]" custT="1"/>
      <dgm:spPr/>
      <dgm:t>
        <a:bodyPr/>
        <a:lstStyle/>
        <a:p>
          <a:pPr algn="just"/>
          <a:r>
            <a:rPr lang="en-IN" sz="1800" dirty="0">
              <a:solidFill>
                <a:schemeClr val="tx1"/>
              </a:solidFill>
            </a:rPr>
            <a:t>Optimizer: AdamW</a:t>
          </a:r>
        </a:p>
      </dgm:t>
    </dgm:pt>
    <dgm:pt modelId="{C206CE41-408F-486F-8D7D-23F099D29606}" type="parTrans" cxnId="{A211ABD9-1E62-4040-8A60-78325F068555}">
      <dgm:prSet/>
      <dgm:spPr/>
      <dgm:t>
        <a:bodyPr/>
        <a:lstStyle/>
        <a:p>
          <a:endParaRPr lang="en-IN"/>
        </a:p>
      </dgm:t>
    </dgm:pt>
    <dgm:pt modelId="{85C0B977-5B49-45B2-B791-81302D729D6C}" type="sibTrans" cxnId="{A211ABD9-1E62-4040-8A60-78325F068555}">
      <dgm:prSet/>
      <dgm:spPr/>
      <dgm:t>
        <a:bodyPr/>
        <a:lstStyle/>
        <a:p>
          <a:endParaRPr lang="en-IN"/>
        </a:p>
      </dgm:t>
    </dgm:pt>
    <dgm:pt modelId="{99D8C09D-DA4E-42DC-BB94-6C8AE675FD49}">
      <dgm:prSet phldrT="[Text]" custT="1"/>
      <dgm:spPr/>
      <dgm:t>
        <a:bodyPr/>
        <a:lstStyle/>
        <a:p>
          <a:pPr algn="just">
            <a:buNone/>
          </a:pPr>
          <a:r>
            <a:rPr lang="en-IN" sz="1800" dirty="0">
              <a:solidFill>
                <a:schemeClr val="tx1"/>
              </a:solidFill>
            </a:rPr>
            <a:t>Learning rate</a:t>
          </a:r>
          <a:r>
            <a:rPr lang="en-IN" sz="2000" dirty="0">
              <a:solidFill>
                <a:schemeClr val="tx1"/>
              </a:solidFill>
            </a:rPr>
            <a:t>: </a:t>
          </a:r>
          <a:r>
            <a:rPr lang="en-US" sz="2000" dirty="0">
              <a:solidFill>
                <a:schemeClr val="tx1"/>
              </a:solidFill>
            </a:rPr>
            <a:t>0.0014</a:t>
          </a:r>
          <a:endParaRPr lang="en-IN" sz="2000" dirty="0">
            <a:solidFill>
              <a:schemeClr val="tx1"/>
            </a:solidFill>
          </a:endParaRPr>
        </a:p>
      </dgm:t>
    </dgm:pt>
    <dgm:pt modelId="{18794E91-493D-4CB2-A651-3823C68BAB86}" type="parTrans" cxnId="{277400D1-98CB-42E6-9327-3C347E1F5D46}">
      <dgm:prSet/>
      <dgm:spPr/>
      <dgm:t>
        <a:bodyPr/>
        <a:lstStyle/>
        <a:p>
          <a:endParaRPr lang="en-IN"/>
        </a:p>
      </dgm:t>
    </dgm:pt>
    <dgm:pt modelId="{2A0339FA-FD34-45E1-B7C9-6837F4AAA44B}" type="sibTrans" cxnId="{277400D1-98CB-42E6-9327-3C347E1F5D46}">
      <dgm:prSet/>
      <dgm:spPr/>
      <dgm:t>
        <a:bodyPr/>
        <a:lstStyle/>
        <a:p>
          <a:endParaRPr lang="en-IN"/>
        </a:p>
      </dgm:t>
    </dgm:pt>
    <dgm:pt modelId="{58797671-FBD4-4187-9EB3-6CDB85CC4403}">
      <dgm:prSet custT="1"/>
      <dgm:spPr/>
      <dgm:t>
        <a:bodyPr/>
        <a:lstStyle/>
        <a:p>
          <a:pPr algn="just">
            <a:buNone/>
          </a:pPr>
          <a:r>
            <a:rPr lang="en-IN" sz="1800" dirty="0">
              <a:solidFill>
                <a:schemeClr val="tx1"/>
              </a:solidFill>
            </a:rPr>
            <a:t>Epochs:10</a:t>
          </a:r>
        </a:p>
      </dgm:t>
    </dgm:pt>
    <dgm:pt modelId="{00C18C0D-BC39-44AE-AF47-7D0022F3BF23}" type="parTrans" cxnId="{73989E4D-3D8D-400E-A929-897BD6916FF6}">
      <dgm:prSet/>
      <dgm:spPr/>
      <dgm:t>
        <a:bodyPr/>
        <a:lstStyle/>
        <a:p>
          <a:endParaRPr lang="en-IN"/>
        </a:p>
      </dgm:t>
    </dgm:pt>
    <dgm:pt modelId="{D69E4A2E-3EE9-49C2-A23D-1E973D4D3C65}" type="sibTrans" cxnId="{73989E4D-3D8D-400E-A929-897BD6916FF6}">
      <dgm:prSet/>
      <dgm:spPr/>
      <dgm:t>
        <a:bodyPr/>
        <a:lstStyle/>
        <a:p>
          <a:endParaRPr lang="en-IN"/>
        </a:p>
      </dgm:t>
    </dgm:pt>
    <dgm:pt modelId="{323655DA-4F67-4547-92D2-A95A51290CE4}">
      <dgm:prSet custT="1"/>
      <dgm:spPr/>
      <dgm:t>
        <a:bodyPr/>
        <a:lstStyle/>
        <a:p>
          <a:pPr algn="just">
            <a:buNone/>
          </a:pPr>
          <a:r>
            <a:rPr lang="en-US" sz="1800" dirty="0">
              <a:solidFill>
                <a:schemeClr val="tx1"/>
              </a:solidFill>
            </a:rPr>
            <a:t>Loss regularization: weight decay 0.01</a:t>
          </a:r>
          <a:endParaRPr lang="en-IN" sz="1800" dirty="0">
            <a:solidFill>
              <a:schemeClr val="tx1"/>
            </a:solidFill>
          </a:endParaRPr>
        </a:p>
      </dgm:t>
    </dgm:pt>
    <dgm:pt modelId="{57C040C2-7E64-4BF8-8900-6DDEDEBB0519}" type="parTrans" cxnId="{EFC60434-6E7F-4DC3-A0CF-B540EB6AD970}">
      <dgm:prSet/>
      <dgm:spPr/>
      <dgm:t>
        <a:bodyPr/>
        <a:lstStyle/>
        <a:p>
          <a:endParaRPr lang="en-IN"/>
        </a:p>
      </dgm:t>
    </dgm:pt>
    <dgm:pt modelId="{2D7AF729-6D0B-45F9-8596-81AB400D8C04}" type="sibTrans" cxnId="{EFC60434-6E7F-4DC3-A0CF-B540EB6AD970}">
      <dgm:prSet/>
      <dgm:spPr/>
      <dgm:t>
        <a:bodyPr/>
        <a:lstStyle/>
        <a:p>
          <a:endParaRPr lang="en-IN"/>
        </a:p>
      </dgm:t>
    </dgm:pt>
    <dgm:pt modelId="{1A058BF0-4E97-4C8F-9963-08160D321731}">
      <dgm:prSet custT="1"/>
      <dgm:spPr/>
      <dgm:t>
        <a:bodyPr/>
        <a:lstStyle/>
        <a:p>
          <a:pPr algn="l">
            <a:buNone/>
          </a:pPr>
          <a:r>
            <a:rPr lang="en-IN" sz="2000" dirty="0">
              <a:solidFill>
                <a:schemeClr val="tx1"/>
              </a:solidFill>
            </a:rPr>
            <a:t>Batch size: 128</a:t>
          </a:r>
        </a:p>
      </dgm:t>
    </dgm:pt>
    <dgm:pt modelId="{2B268126-0581-444B-A892-CC497C0213A3}" type="parTrans" cxnId="{F58C274E-E86F-4172-9EAE-734577340DFC}">
      <dgm:prSet/>
      <dgm:spPr/>
      <dgm:t>
        <a:bodyPr/>
        <a:lstStyle/>
        <a:p>
          <a:endParaRPr lang="en-IN"/>
        </a:p>
      </dgm:t>
    </dgm:pt>
    <dgm:pt modelId="{0402C4A4-0DD6-4F3E-982C-9CDFD2E0500A}" type="sibTrans" cxnId="{F58C274E-E86F-4172-9EAE-734577340DFC}">
      <dgm:prSet/>
      <dgm:spPr/>
      <dgm:t>
        <a:bodyPr/>
        <a:lstStyle/>
        <a:p>
          <a:endParaRPr lang="en-IN"/>
        </a:p>
      </dgm:t>
    </dgm:pt>
    <dgm:pt modelId="{ED6F923C-134C-4164-ABB1-AB0BC890DA47}">
      <dgm:prSet custT="1"/>
      <dgm:spPr/>
      <dgm:t>
        <a:bodyPr/>
        <a:lstStyle/>
        <a:p>
          <a:pPr algn="l">
            <a:buNone/>
          </a:pPr>
          <a:r>
            <a:rPr lang="en-IN" sz="1800" b="0" dirty="0" err="1">
              <a:solidFill>
                <a:schemeClr val="tx1"/>
              </a:solidFill>
            </a:rPr>
            <a:t>warmup_steps</a:t>
          </a:r>
          <a:r>
            <a:rPr lang="en-IN" sz="1800" b="0" dirty="0">
              <a:solidFill>
                <a:schemeClr val="tx1"/>
              </a:solidFill>
            </a:rPr>
            <a:t>=4000</a:t>
          </a:r>
          <a:endParaRPr lang="en-IN" sz="1800" dirty="0">
            <a:solidFill>
              <a:schemeClr val="tx1"/>
            </a:solidFill>
          </a:endParaRPr>
        </a:p>
      </dgm:t>
    </dgm:pt>
    <dgm:pt modelId="{35F11938-9886-4B58-8DB7-9808E3AD3646}" type="parTrans" cxnId="{60750FE0-7B18-44FE-A2DF-4F3183DDCF90}">
      <dgm:prSet/>
      <dgm:spPr/>
      <dgm:t>
        <a:bodyPr/>
        <a:lstStyle/>
        <a:p>
          <a:endParaRPr lang="en-IN"/>
        </a:p>
      </dgm:t>
    </dgm:pt>
    <dgm:pt modelId="{584436A7-4968-4AE1-BFCD-EE452335498D}" type="sibTrans" cxnId="{60750FE0-7B18-44FE-A2DF-4F3183DDCF90}">
      <dgm:prSet/>
      <dgm:spPr/>
      <dgm:t>
        <a:bodyPr/>
        <a:lstStyle/>
        <a:p>
          <a:endParaRPr lang="en-IN"/>
        </a:p>
      </dgm:t>
    </dgm:pt>
    <dgm:pt modelId="{02BA92A3-81F1-40F6-9012-857CDCACB83C}" type="pres">
      <dgm:prSet presAssocID="{56D9CA47-59EB-42B7-A332-6D23417316A4}" presName="Name0" presStyleCnt="0">
        <dgm:presLayoutVars>
          <dgm:resizeHandles/>
        </dgm:presLayoutVars>
      </dgm:prSet>
      <dgm:spPr/>
    </dgm:pt>
    <dgm:pt modelId="{BC678711-C549-4F68-9774-98338F3E7C72}" type="pres">
      <dgm:prSet presAssocID="{D643608D-04F1-4AFF-B6B1-9BF79081D323}" presName="text" presStyleLbl="node1" presStyleIdx="0" presStyleCnt="7" custScaleX="523097" custScaleY="14939">
        <dgm:presLayoutVars>
          <dgm:bulletEnabled val="1"/>
        </dgm:presLayoutVars>
      </dgm:prSet>
      <dgm:spPr/>
    </dgm:pt>
    <dgm:pt modelId="{F5AB158E-A3FC-4E7F-807B-D365A9E33E55}" type="pres">
      <dgm:prSet presAssocID="{3BD96A9C-78AE-4ACA-94EE-7041A1A83FE9}" presName="space" presStyleCnt="0"/>
      <dgm:spPr/>
    </dgm:pt>
    <dgm:pt modelId="{7805C4E6-B886-4D9C-BB7D-1B497BC42BC5}" type="pres">
      <dgm:prSet presAssocID="{7CC8FD12-C302-4141-B59E-8516AA4866F9}" presName="text" presStyleLbl="node1" presStyleIdx="1" presStyleCnt="7" custScaleX="759178" custScaleY="14939">
        <dgm:presLayoutVars>
          <dgm:bulletEnabled val="1"/>
        </dgm:presLayoutVars>
      </dgm:prSet>
      <dgm:spPr/>
    </dgm:pt>
    <dgm:pt modelId="{819A8318-D42A-4C2D-B262-057FD46D58A9}" type="pres">
      <dgm:prSet presAssocID="{85C0B977-5B49-45B2-B791-81302D729D6C}" presName="space" presStyleCnt="0"/>
      <dgm:spPr/>
    </dgm:pt>
    <dgm:pt modelId="{09F30405-6D32-4864-B7BB-6229CC660948}" type="pres">
      <dgm:prSet presAssocID="{99D8C09D-DA4E-42DC-BB94-6C8AE675FD49}" presName="text" presStyleLbl="node1" presStyleIdx="2" presStyleCnt="7" custScaleX="759178" custScaleY="14939">
        <dgm:presLayoutVars>
          <dgm:bulletEnabled val="1"/>
        </dgm:presLayoutVars>
      </dgm:prSet>
      <dgm:spPr/>
    </dgm:pt>
    <dgm:pt modelId="{24DF5B7E-9542-432C-A230-B418850EDCD0}" type="pres">
      <dgm:prSet presAssocID="{2A0339FA-FD34-45E1-B7C9-6837F4AAA44B}" presName="space" presStyleCnt="0"/>
      <dgm:spPr/>
    </dgm:pt>
    <dgm:pt modelId="{07E4542A-E7A6-412D-A8ED-803BB811E97A}" type="pres">
      <dgm:prSet presAssocID="{1A058BF0-4E97-4C8F-9963-08160D321731}" presName="text" presStyleLbl="node1" presStyleIdx="3" presStyleCnt="7" custScaleX="768605" custScaleY="14939">
        <dgm:presLayoutVars>
          <dgm:bulletEnabled val="1"/>
        </dgm:presLayoutVars>
      </dgm:prSet>
      <dgm:spPr/>
    </dgm:pt>
    <dgm:pt modelId="{8D5EBC27-7C7D-4196-8D39-C0B1CD006231}" type="pres">
      <dgm:prSet presAssocID="{0402C4A4-0DD6-4F3E-982C-9CDFD2E0500A}" presName="space" presStyleCnt="0"/>
      <dgm:spPr/>
    </dgm:pt>
    <dgm:pt modelId="{4DC30FF9-45D8-4BFC-957F-5E37C9C16B85}" type="pres">
      <dgm:prSet presAssocID="{58797671-FBD4-4187-9EB3-6CDB85CC4403}" presName="text" presStyleLbl="node1" presStyleIdx="4" presStyleCnt="7" custScaleX="768605" custScaleY="14939">
        <dgm:presLayoutVars>
          <dgm:bulletEnabled val="1"/>
        </dgm:presLayoutVars>
      </dgm:prSet>
      <dgm:spPr/>
    </dgm:pt>
    <dgm:pt modelId="{1CA434B9-6273-41CB-A1DF-5DC141579804}" type="pres">
      <dgm:prSet presAssocID="{D69E4A2E-3EE9-49C2-A23D-1E973D4D3C65}" presName="space" presStyleCnt="0"/>
      <dgm:spPr/>
    </dgm:pt>
    <dgm:pt modelId="{DE2191F5-0D99-433E-A827-728EDC5226E1}" type="pres">
      <dgm:prSet presAssocID="{ED6F923C-134C-4164-ABB1-AB0BC890DA47}" presName="text" presStyleLbl="node1" presStyleIdx="5" presStyleCnt="7" custScaleX="768605" custScaleY="14939">
        <dgm:presLayoutVars>
          <dgm:bulletEnabled val="1"/>
        </dgm:presLayoutVars>
      </dgm:prSet>
      <dgm:spPr/>
    </dgm:pt>
    <dgm:pt modelId="{6DFDAE6C-00B9-4B35-8EDD-57C8958FCFC9}" type="pres">
      <dgm:prSet presAssocID="{584436A7-4968-4AE1-BFCD-EE452335498D}" presName="space" presStyleCnt="0"/>
      <dgm:spPr/>
    </dgm:pt>
    <dgm:pt modelId="{A5A6E52D-DEA1-4FB1-9E53-DA922DE1FDC0}" type="pres">
      <dgm:prSet presAssocID="{323655DA-4F67-4547-92D2-A95A51290CE4}" presName="text" presStyleLbl="node1" presStyleIdx="6" presStyleCnt="7" custScaleX="759178" custScaleY="14939">
        <dgm:presLayoutVars>
          <dgm:bulletEnabled val="1"/>
        </dgm:presLayoutVars>
      </dgm:prSet>
      <dgm:spPr/>
    </dgm:pt>
  </dgm:ptLst>
  <dgm:cxnLst>
    <dgm:cxn modelId="{4E15950D-59C1-43C6-9146-16DFC2E6BDC5}" type="presOf" srcId="{ED6F923C-134C-4164-ABB1-AB0BC890DA47}" destId="{DE2191F5-0D99-433E-A827-728EDC5226E1}" srcOrd="0" destOrd="0" presId="urn:diagrams.loki3.com/VaryingWidthList"/>
    <dgm:cxn modelId="{35B23B1B-7792-422E-BD58-4E679F8652DD}" type="presOf" srcId="{58797671-FBD4-4187-9EB3-6CDB85CC4403}" destId="{4DC30FF9-45D8-4BFC-957F-5E37C9C16B85}" srcOrd="0" destOrd="0" presId="urn:diagrams.loki3.com/VaryingWidthList"/>
    <dgm:cxn modelId="{A971671E-C11D-4F04-AEF1-DA50A65E357E}" srcId="{56D9CA47-59EB-42B7-A332-6D23417316A4}" destId="{D643608D-04F1-4AFF-B6B1-9BF79081D323}" srcOrd="0" destOrd="0" parTransId="{E239D273-E8E4-4751-BAC8-9DE482389F9D}" sibTransId="{3BD96A9C-78AE-4ACA-94EE-7041A1A83FE9}"/>
    <dgm:cxn modelId="{A6220425-C752-481D-B55C-FB900B94018A}" type="presOf" srcId="{56D9CA47-59EB-42B7-A332-6D23417316A4}" destId="{02BA92A3-81F1-40F6-9012-857CDCACB83C}" srcOrd="0" destOrd="0" presId="urn:diagrams.loki3.com/VaryingWidthList"/>
    <dgm:cxn modelId="{EFC60434-6E7F-4DC3-A0CF-B540EB6AD970}" srcId="{56D9CA47-59EB-42B7-A332-6D23417316A4}" destId="{323655DA-4F67-4547-92D2-A95A51290CE4}" srcOrd="6" destOrd="0" parTransId="{57C040C2-7E64-4BF8-8900-6DDEDEBB0519}" sibTransId="{2D7AF729-6D0B-45F9-8596-81AB400D8C04}"/>
    <dgm:cxn modelId="{C44F3A5C-F9C4-45AE-A95F-8130E49DF2C8}" type="presOf" srcId="{323655DA-4F67-4547-92D2-A95A51290CE4}" destId="{A5A6E52D-DEA1-4FB1-9E53-DA922DE1FDC0}" srcOrd="0" destOrd="0" presId="urn:diagrams.loki3.com/VaryingWidthList"/>
    <dgm:cxn modelId="{73989E4D-3D8D-400E-A929-897BD6916FF6}" srcId="{56D9CA47-59EB-42B7-A332-6D23417316A4}" destId="{58797671-FBD4-4187-9EB3-6CDB85CC4403}" srcOrd="4" destOrd="0" parTransId="{00C18C0D-BC39-44AE-AF47-7D0022F3BF23}" sibTransId="{D69E4A2E-3EE9-49C2-A23D-1E973D4D3C65}"/>
    <dgm:cxn modelId="{F58C274E-E86F-4172-9EAE-734577340DFC}" srcId="{56D9CA47-59EB-42B7-A332-6D23417316A4}" destId="{1A058BF0-4E97-4C8F-9963-08160D321731}" srcOrd="3" destOrd="0" parTransId="{2B268126-0581-444B-A892-CC497C0213A3}" sibTransId="{0402C4A4-0DD6-4F3E-982C-9CDFD2E0500A}"/>
    <dgm:cxn modelId="{268BD070-2535-4948-B2DC-DA066AAC4AFF}" type="presOf" srcId="{99D8C09D-DA4E-42DC-BB94-6C8AE675FD49}" destId="{09F30405-6D32-4864-B7BB-6229CC660948}" srcOrd="0" destOrd="0" presId="urn:diagrams.loki3.com/VaryingWidthList"/>
    <dgm:cxn modelId="{27113C72-359F-4DD8-9767-F87FF6A0BD23}" type="presOf" srcId="{D643608D-04F1-4AFF-B6B1-9BF79081D323}" destId="{BC678711-C549-4F68-9774-98338F3E7C72}" srcOrd="0" destOrd="0" presId="urn:diagrams.loki3.com/VaryingWidthList"/>
    <dgm:cxn modelId="{277400D1-98CB-42E6-9327-3C347E1F5D46}" srcId="{56D9CA47-59EB-42B7-A332-6D23417316A4}" destId="{99D8C09D-DA4E-42DC-BB94-6C8AE675FD49}" srcOrd="2" destOrd="0" parTransId="{18794E91-493D-4CB2-A651-3823C68BAB86}" sibTransId="{2A0339FA-FD34-45E1-B7C9-6837F4AAA44B}"/>
    <dgm:cxn modelId="{A211ABD9-1E62-4040-8A60-78325F068555}" srcId="{56D9CA47-59EB-42B7-A332-6D23417316A4}" destId="{7CC8FD12-C302-4141-B59E-8516AA4866F9}" srcOrd="1" destOrd="0" parTransId="{C206CE41-408F-486F-8D7D-23F099D29606}" sibTransId="{85C0B977-5B49-45B2-B791-81302D729D6C}"/>
    <dgm:cxn modelId="{60750FE0-7B18-44FE-A2DF-4F3183DDCF90}" srcId="{56D9CA47-59EB-42B7-A332-6D23417316A4}" destId="{ED6F923C-134C-4164-ABB1-AB0BC890DA47}" srcOrd="5" destOrd="0" parTransId="{35F11938-9886-4B58-8DB7-9808E3AD3646}" sibTransId="{584436A7-4968-4AE1-BFCD-EE452335498D}"/>
    <dgm:cxn modelId="{771797F9-EEFD-49D8-BA37-18C640765E78}" type="presOf" srcId="{7CC8FD12-C302-4141-B59E-8516AA4866F9}" destId="{7805C4E6-B886-4D9C-BB7D-1B497BC42BC5}" srcOrd="0" destOrd="0" presId="urn:diagrams.loki3.com/VaryingWidthList"/>
    <dgm:cxn modelId="{876AC6FC-8E9E-4AC5-B589-BB72B9667336}" type="presOf" srcId="{1A058BF0-4E97-4C8F-9963-08160D321731}" destId="{07E4542A-E7A6-412D-A8ED-803BB811E97A}" srcOrd="0" destOrd="0" presId="urn:diagrams.loki3.com/VaryingWidthList"/>
    <dgm:cxn modelId="{EB6AE2FB-0B7E-4D07-9387-7B0B3BD4B268}" type="presParOf" srcId="{02BA92A3-81F1-40F6-9012-857CDCACB83C}" destId="{BC678711-C549-4F68-9774-98338F3E7C72}" srcOrd="0" destOrd="0" presId="urn:diagrams.loki3.com/VaryingWidthList"/>
    <dgm:cxn modelId="{28874FA5-75DE-4FB0-ACD8-0E89056CDA40}" type="presParOf" srcId="{02BA92A3-81F1-40F6-9012-857CDCACB83C}" destId="{F5AB158E-A3FC-4E7F-807B-D365A9E33E55}" srcOrd="1" destOrd="0" presId="urn:diagrams.loki3.com/VaryingWidthList"/>
    <dgm:cxn modelId="{17AD4612-DD58-416E-A668-DF0179E66305}" type="presParOf" srcId="{02BA92A3-81F1-40F6-9012-857CDCACB83C}" destId="{7805C4E6-B886-4D9C-BB7D-1B497BC42BC5}" srcOrd="2" destOrd="0" presId="urn:diagrams.loki3.com/VaryingWidthList"/>
    <dgm:cxn modelId="{FAA437C1-1E04-44D9-8CC0-5BD0463940B5}" type="presParOf" srcId="{02BA92A3-81F1-40F6-9012-857CDCACB83C}" destId="{819A8318-D42A-4C2D-B262-057FD46D58A9}" srcOrd="3" destOrd="0" presId="urn:diagrams.loki3.com/VaryingWidthList"/>
    <dgm:cxn modelId="{0B3A4B55-DB92-4CFC-9CC7-80E87624466A}" type="presParOf" srcId="{02BA92A3-81F1-40F6-9012-857CDCACB83C}" destId="{09F30405-6D32-4864-B7BB-6229CC660948}" srcOrd="4" destOrd="0" presId="urn:diagrams.loki3.com/VaryingWidthList"/>
    <dgm:cxn modelId="{FB03DA5D-48A4-4689-B9B3-20DAC296D21F}" type="presParOf" srcId="{02BA92A3-81F1-40F6-9012-857CDCACB83C}" destId="{24DF5B7E-9542-432C-A230-B418850EDCD0}" srcOrd="5" destOrd="0" presId="urn:diagrams.loki3.com/VaryingWidthList"/>
    <dgm:cxn modelId="{8A84832C-AC7E-4CB0-9EA5-2064FA697C15}" type="presParOf" srcId="{02BA92A3-81F1-40F6-9012-857CDCACB83C}" destId="{07E4542A-E7A6-412D-A8ED-803BB811E97A}" srcOrd="6" destOrd="0" presId="urn:diagrams.loki3.com/VaryingWidthList"/>
    <dgm:cxn modelId="{01ACCEAF-49C4-45F9-B5FE-A2E71CCB96BC}" type="presParOf" srcId="{02BA92A3-81F1-40F6-9012-857CDCACB83C}" destId="{8D5EBC27-7C7D-4196-8D39-C0B1CD006231}" srcOrd="7" destOrd="0" presId="urn:diagrams.loki3.com/VaryingWidthList"/>
    <dgm:cxn modelId="{293DD8B6-9C25-4552-BEE9-391AAC6583C3}" type="presParOf" srcId="{02BA92A3-81F1-40F6-9012-857CDCACB83C}" destId="{4DC30FF9-45D8-4BFC-957F-5E37C9C16B85}" srcOrd="8" destOrd="0" presId="urn:diagrams.loki3.com/VaryingWidthList"/>
    <dgm:cxn modelId="{EA523055-7D65-4B73-ACC8-C421D2958E4C}" type="presParOf" srcId="{02BA92A3-81F1-40F6-9012-857CDCACB83C}" destId="{1CA434B9-6273-41CB-A1DF-5DC141579804}" srcOrd="9" destOrd="0" presId="urn:diagrams.loki3.com/VaryingWidthList"/>
    <dgm:cxn modelId="{C0631E43-E422-4F06-96B3-6DDB58D5EDEA}" type="presParOf" srcId="{02BA92A3-81F1-40F6-9012-857CDCACB83C}" destId="{DE2191F5-0D99-433E-A827-728EDC5226E1}" srcOrd="10" destOrd="0" presId="urn:diagrams.loki3.com/VaryingWidthList"/>
    <dgm:cxn modelId="{CBAE97C6-DCC0-45FC-8E55-D3679A960B9C}" type="presParOf" srcId="{02BA92A3-81F1-40F6-9012-857CDCACB83C}" destId="{6DFDAE6C-00B9-4B35-8EDD-57C8958FCFC9}" srcOrd="11" destOrd="0" presId="urn:diagrams.loki3.com/VaryingWidthList"/>
    <dgm:cxn modelId="{0C54CCA9-5790-40D6-955C-ADE6BD01E103}" type="presParOf" srcId="{02BA92A3-81F1-40F6-9012-857CDCACB83C}" destId="{A5A6E52D-DEA1-4FB1-9E53-DA922DE1FDC0}" srcOrd="12"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678711-C549-4F68-9774-98338F3E7C72}">
      <dsp:nvSpPr>
        <dsp:cNvPr id="0" name=""/>
        <dsp:cNvSpPr/>
      </dsp:nvSpPr>
      <dsp:spPr>
        <a:xfrm>
          <a:off x="0" y="2922"/>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just" defTabSz="800100">
            <a:lnSpc>
              <a:spcPct val="90000"/>
            </a:lnSpc>
            <a:spcBef>
              <a:spcPct val="0"/>
            </a:spcBef>
            <a:spcAft>
              <a:spcPct val="35000"/>
            </a:spcAft>
            <a:buNone/>
          </a:pPr>
          <a:r>
            <a:rPr lang="en-IN" sz="1800" b="0" kern="1200" dirty="0">
              <a:solidFill>
                <a:schemeClr val="tx1"/>
              </a:solidFill>
            </a:rPr>
            <a:t>Framework : Transformer</a:t>
          </a:r>
          <a:endParaRPr lang="en-IN" sz="1800" kern="1200" dirty="0">
            <a:solidFill>
              <a:schemeClr val="tx1"/>
            </a:solidFill>
          </a:endParaRPr>
        </a:p>
      </dsp:txBody>
      <dsp:txXfrm>
        <a:off x="0" y="2922"/>
        <a:ext cx="8128000" cy="533019"/>
      </dsp:txXfrm>
    </dsp:sp>
    <dsp:sp modelId="{7805C4E6-B886-4D9C-BB7D-1B497BC42BC5}">
      <dsp:nvSpPr>
        <dsp:cNvPr id="0" name=""/>
        <dsp:cNvSpPr/>
      </dsp:nvSpPr>
      <dsp:spPr>
        <a:xfrm>
          <a:off x="0" y="714340"/>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just" defTabSz="800100">
            <a:lnSpc>
              <a:spcPct val="90000"/>
            </a:lnSpc>
            <a:spcBef>
              <a:spcPct val="0"/>
            </a:spcBef>
            <a:spcAft>
              <a:spcPct val="35000"/>
            </a:spcAft>
            <a:buNone/>
          </a:pPr>
          <a:r>
            <a:rPr lang="en-IN" sz="1800" kern="1200" dirty="0">
              <a:solidFill>
                <a:schemeClr val="tx1"/>
              </a:solidFill>
            </a:rPr>
            <a:t>Optimizer: AdamW</a:t>
          </a:r>
        </a:p>
      </dsp:txBody>
      <dsp:txXfrm>
        <a:off x="0" y="714340"/>
        <a:ext cx="8128000" cy="533019"/>
      </dsp:txXfrm>
    </dsp:sp>
    <dsp:sp modelId="{09F30405-6D32-4864-B7BB-6229CC660948}">
      <dsp:nvSpPr>
        <dsp:cNvPr id="0" name=""/>
        <dsp:cNvSpPr/>
      </dsp:nvSpPr>
      <dsp:spPr>
        <a:xfrm>
          <a:off x="0" y="1425758"/>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just" defTabSz="800100">
            <a:lnSpc>
              <a:spcPct val="90000"/>
            </a:lnSpc>
            <a:spcBef>
              <a:spcPct val="0"/>
            </a:spcBef>
            <a:spcAft>
              <a:spcPct val="35000"/>
            </a:spcAft>
            <a:buNone/>
          </a:pPr>
          <a:r>
            <a:rPr lang="en-IN" sz="1800" kern="1200" dirty="0">
              <a:solidFill>
                <a:schemeClr val="tx1"/>
              </a:solidFill>
            </a:rPr>
            <a:t>Learning rate</a:t>
          </a:r>
          <a:r>
            <a:rPr lang="en-IN" sz="2000" kern="1200" dirty="0">
              <a:solidFill>
                <a:schemeClr val="tx1"/>
              </a:solidFill>
            </a:rPr>
            <a:t>: </a:t>
          </a:r>
          <a:r>
            <a:rPr lang="en-US" sz="2000" kern="1200" dirty="0">
              <a:solidFill>
                <a:schemeClr val="tx1"/>
              </a:solidFill>
            </a:rPr>
            <a:t>0.0014</a:t>
          </a:r>
          <a:endParaRPr lang="en-IN" sz="2000" kern="1200" dirty="0">
            <a:solidFill>
              <a:schemeClr val="tx1"/>
            </a:solidFill>
          </a:endParaRPr>
        </a:p>
      </dsp:txBody>
      <dsp:txXfrm>
        <a:off x="0" y="1425758"/>
        <a:ext cx="8128000" cy="533019"/>
      </dsp:txXfrm>
    </dsp:sp>
    <dsp:sp modelId="{07E4542A-E7A6-412D-A8ED-803BB811E97A}">
      <dsp:nvSpPr>
        <dsp:cNvPr id="0" name=""/>
        <dsp:cNvSpPr/>
      </dsp:nvSpPr>
      <dsp:spPr>
        <a:xfrm>
          <a:off x="0" y="2137176"/>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solidFill>
                <a:schemeClr val="tx1"/>
              </a:solidFill>
            </a:rPr>
            <a:t>Batch size: 128</a:t>
          </a:r>
        </a:p>
      </dsp:txBody>
      <dsp:txXfrm>
        <a:off x="0" y="2137176"/>
        <a:ext cx="8128000" cy="533019"/>
      </dsp:txXfrm>
    </dsp:sp>
    <dsp:sp modelId="{4DC30FF9-45D8-4BFC-957F-5E37C9C16B85}">
      <dsp:nvSpPr>
        <dsp:cNvPr id="0" name=""/>
        <dsp:cNvSpPr/>
      </dsp:nvSpPr>
      <dsp:spPr>
        <a:xfrm>
          <a:off x="0" y="2848594"/>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just" defTabSz="800100">
            <a:lnSpc>
              <a:spcPct val="90000"/>
            </a:lnSpc>
            <a:spcBef>
              <a:spcPct val="0"/>
            </a:spcBef>
            <a:spcAft>
              <a:spcPct val="35000"/>
            </a:spcAft>
            <a:buNone/>
          </a:pPr>
          <a:r>
            <a:rPr lang="en-IN" sz="1800" kern="1200" dirty="0">
              <a:solidFill>
                <a:schemeClr val="tx1"/>
              </a:solidFill>
            </a:rPr>
            <a:t>Epochs:10</a:t>
          </a:r>
        </a:p>
      </dsp:txBody>
      <dsp:txXfrm>
        <a:off x="0" y="2848594"/>
        <a:ext cx="8128000" cy="533019"/>
      </dsp:txXfrm>
    </dsp:sp>
    <dsp:sp modelId="{DE2191F5-0D99-433E-A827-728EDC5226E1}">
      <dsp:nvSpPr>
        <dsp:cNvPr id="0" name=""/>
        <dsp:cNvSpPr/>
      </dsp:nvSpPr>
      <dsp:spPr>
        <a:xfrm>
          <a:off x="0" y="3560012"/>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800100">
            <a:lnSpc>
              <a:spcPct val="90000"/>
            </a:lnSpc>
            <a:spcBef>
              <a:spcPct val="0"/>
            </a:spcBef>
            <a:spcAft>
              <a:spcPct val="35000"/>
            </a:spcAft>
            <a:buNone/>
          </a:pPr>
          <a:r>
            <a:rPr lang="en-IN" sz="1800" b="0" kern="1200" dirty="0" err="1">
              <a:solidFill>
                <a:schemeClr val="tx1"/>
              </a:solidFill>
            </a:rPr>
            <a:t>warmup_steps</a:t>
          </a:r>
          <a:r>
            <a:rPr lang="en-IN" sz="1800" b="0" kern="1200" dirty="0">
              <a:solidFill>
                <a:schemeClr val="tx1"/>
              </a:solidFill>
            </a:rPr>
            <a:t>=4000</a:t>
          </a:r>
          <a:endParaRPr lang="en-IN" sz="1800" kern="1200" dirty="0">
            <a:solidFill>
              <a:schemeClr val="tx1"/>
            </a:solidFill>
          </a:endParaRPr>
        </a:p>
      </dsp:txBody>
      <dsp:txXfrm>
        <a:off x="0" y="3560012"/>
        <a:ext cx="8128000" cy="533019"/>
      </dsp:txXfrm>
    </dsp:sp>
    <dsp:sp modelId="{A5A6E52D-DEA1-4FB1-9E53-DA922DE1FDC0}">
      <dsp:nvSpPr>
        <dsp:cNvPr id="0" name=""/>
        <dsp:cNvSpPr/>
      </dsp:nvSpPr>
      <dsp:spPr>
        <a:xfrm>
          <a:off x="0" y="4271430"/>
          <a:ext cx="8128000" cy="533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just" defTabSz="800100">
            <a:lnSpc>
              <a:spcPct val="90000"/>
            </a:lnSpc>
            <a:spcBef>
              <a:spcPct val="0"/>
            </a:spcBef>
            <a:spcAft>
              <a:spcPct val="35000"/>
            </a:spcAft>
            <a:buNone/>
          </a:pPr>
          <a:r>
            <a:rPr lang="en-US" sz="1800" kern="1200" dirty="0">
              <a:solidFill>
                <a:schemeClr val="tx1"/>
              </a:solidFill>
            </a:rPr>
            <a:t>Loss regularization: weight decay 0.01</a:t>
          </a:r>
          <a:endParaRPr lang="en-IN" sz="1800" kern="1200" dirty="0">
            <a:solidFill>
              <a:schemeClr val="tx1"/>
            </a:solidFill>
          </a:endParaRPr>
        </a:p>
      </dsp:txBody>
      <dsp:txXfrm>
        <a:off x="0" y="4271430"/>
        <a:ext cx="8128000" cy="533019"/>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pPr/>
              <a:t>11/9/2025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pPr/>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pPr/>
              <a:t>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pPr/>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pPr/>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pPr/>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pPr/>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701"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kaggle.com/datasets/pavanreddy6/english-telugu-pairs?select=english_telugu_data.txt" TargetMode="Externa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55033" y="2993457"/>
            <a:ext cx="10260530" cy="1077218"/>
          </a:xfrm>
          <a:prstGeom prst="rect">
            <a:avLst/>
          </a:prstGeom>
          <a:noFill/>
        </p:spPr>
        <p:txBody>
          <a:bodyPr wrap="square" rtlCol="0">
            <a:spAutoFit/>
          </a:bodyPr>
          <a:lstStyle/>
          <a:p>
            <a:pPr algn="ctr"/>
            <a:r>
              <a:rPr lang="en-US" sz="3200" cap="all" spc="150" dirty="0">
                <a:latin typeface="+mj-lt"/>
                <a:ea typeface="Poppins"/>
                <a:cs typeface="Poppins"/>
                <a:sym typeface="Poppins"/>
              </a:rPr>
              <a:t>Regional Language Translation:</a:t>
            </a:r>
          </a:p>
          <a:p>
            <a:pPr algn="ctr"/>
            <a:r>
              <a:rPr lang="en-US" sz="3200" cap="all" spc="150" dirty="0">
                <a:latin typeface="+mj-lt"/>
                <a:ea typeface="Poppins"/>
                <a:cs typeface="Poppins"/>
                <a:sym typeface="Poppins"/>
              </a:rPr>
              <a:t>English to Telugu Using Deep Learning</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u="sng" dirty="0">
                <a:solidFill>
                  <a:schemeClr val="tx1"/>
                </a:solidFill>
                <a:ea typeface="Poppins"/>
                <a:cs typeface="Poppins"/>
                <a:sym typeface="Poppins"/>
              </a:rPr>
              <a:t>Introduction</a:t>
            </a:r>
            <a:endParaRPr lang="en-US" dirty="0">
              <a:solidFill>
                <a:schemeClr val="tx1"/>
              </a:solidFill>
            </a:endParaRP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527935"/>
            <a:ext cx="7627621" cy="2519363"/>
          </a:xfrm>
        </p:spPr>
        <p:txBody>
          <a:bodyPr>
            <a:noAutofit/>
          </a:bodyPr>
          <a:lstStyle/>
          <a:p>
            <a:pPr marL="561341" lvl="1" indent="-280670" algn="just">
              <a:lnSpc>
                <a:spcPct val="200000"/>
              </a:lnSpc>
              <a:buFont typeface="Arial"/>
              <a:buChar char="•"/>
            </a:pPr>
            <a:r>
              <a:rPr lang="en-US" sz="1500" dirty="0"/>
              <a:t>Language is not just a tool for communication but a bridge that connects cultures, knowledge systems, and communities. </a:t>
            </a:r>
          </a:p>
          <a:p>
            <a:pPr marL="561341" lvl="1" indent="-280670" algn="just">
              <a:lnSpc>
                <a:spcPct val="200000"/>
              </a:lnSpc>
              <a:buFont typeface="Arial"/>
              <a:buChar char="•"/>
            </a:pPr>
            <a:r>
              <a:rPr lang="en-US" sz="1500" dirty="0"/>
              <a:t>In India, with its vast linguistic diversity, language plays a central role in ensuring inclusivity. Among the many Indian languages, Telugu stands out as one of the most widely spoken Dravidian languages, </a:t>
            </a:r>
          </a:p>
          <a:p>
            <a:pPr marL="561341" lvl="1" indent="-280670" algn="just">
              <a:lnSpc>
                <a:spcPct val="200000"/>
              </a:lnSpc>
              <a:buFont typeface="Arial"/>
              <a:buChar char="•"/>
            </a:pPr>
            <a:r>
              <a:rPr lang="en-US" sz="1500" dirty="0"/>
              <a:t>with more than 80 million speakers worldwide. Despite this, English remains the dominant language in higher education, governance, research, and global communication. </a:t>
            </a:r>
            <a:endParaRPr lang="en-US" sz="1500" dirty="0">
              <a:solidFill>
                <a:schemeClr val="tx1"/>
              </a:solidFill>
              <a:latin typeface="Poppins"/>
              <a:ea typeface="Poppins"/>
              <a:cs typeface="Poppins"/>
              <a:sym typeface="Poppins"/>
            </a:endParaRP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267335" y="335594"/>
            <a:ext cx="4082142" cy="585788"/>
          </a:xfrm>
        </p:spPr>
        <p:txBody>
          <a:bodyPr/>
          <a:lstStyle/>
          <a:p>
            <a:r>
              <a:rPr lang="en-US" u="sng" dirty="0">
                <a:solidFill>
                  <a:schemeClr val="tx1"/>
                </a:solidFill>
                <a:ea typeface="Poppins"/>
                <a:cs typeface="Poppins"/>
                <a:sym typeface="Poppins"/>
              </a:rPr>
              <a:t>Motivation</a:t>
            </a:r>
            <a:endParaRPr lang="en-US" dirty="0">
              <a:solidFill>
                <a:schemeClr val="tx1"/>
              </a:solidFill>
            </a:endParaRP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356135" y="1519637"/>
            <a:ext cx="3303179" cy="514350"/>
          </a:xfrm>
        </p:spPr>
        <p:txBody>
          <a:bodyPr vert="horz" lIns="91440" tIns="45720" rIns="91440" bIns="45720" rtlCol="0" anchor="ctr">
            <a:noAutofit/>
          </a:bodyPr>
          <a:lstStyle/>
          <a:p>
            <a:pPr marL="601980" lvl="1" indent="-342900">
              <a:lnSpc>
                <a:spcPts val="3359"/>
              </a:lnSpc>
              <a:buAutoNum type="arabicPeriod"/>
            </a:pPr>
            <a:r>
              <a:rPr lang="en-US" sz="1400" cap="all" spc="150" dirty="0">
                <a:solidFill>
                  <a:schemeClr val="tx1"/>
                </a:solidFill>
                <a:latin typeface="+mj-lt"/>
                <a:cs typeface="Poppins"/>
                <a:sym typeface="Poppins"/>
              </a:rPr>
              <a:t>Language               Complexity</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671778"/>
            <a:ext cx="2976880" cy="514350"/>
          </a:xfrm>
        </p:spPr>
        <p:txBody>
          <a:bodyPr/>
          <a:lstStyle/>
          <a:p>
            <a:pPr marL="259080" lvl="1" indent="0">
              <a:lnSpc>
                <a:spcPts val="3359"/>
              </a:lnSpc>
              <a:buNone/>
            </a:pPr>
            <a:r>
              <a:rPr lang="en-US" sz="1600" dirty="0">
                <a:solidFill>
                  <a:schemeClr val="tx1"/>
                </a:solidFill>
                <a:latin typeface="+mj-lt"/>
                <a:ea typeface="Poppins"/>
                <a:cs typeface="Poppins"/>
                <a:sym typeface="Poppins"/>
              </a:rPr>
              <a:t>2. </a:t>
            </a:r>
            <a:r>
              <a:rPr lang="en-US" sz="1400" cap="all" spc="150" dirty="0">
                <a:solidFill>
                  <a:schemeClr val="tx1"/>
                </a:solidFill>
                <a:latin typeface="+mj-lt"/>
                <a:cs typeface="Poppins"/>
                <a:sym typeface="Poppins"/>
              </a:rPr>
              <a:t>Education</a:t>
            </a:r>
            <a:r>
              <a:rPr lang="en-US" sz="1600" dirty="0">
                <a:solidFill>
                  <a:schemeClr val="tx1"/>
                </a:solidFill>
                <a:latin typeface="+mj-lt"/>
                <a:ea typeface="Poppins"/>
                <a:cs typeface="Poppins"/>
                <a:sym typeface="Poppins"/>
              </a:rPr>
              <a:t> </a:t>
            </a:r>
            <a:r>
              <a:rPr lang="en-US" sz="1400" cap="all" spc="150" dirty="0">
                <a:solidFill>
                  <a:schemeClr val="tx1"/>
                </a:solidFill>
                <a:latin typeface="+mj-lt"/>
                <a:cs typeface="Poppins"/>
                <a:sym typeface="Poppins"/>
              </a:rPr>
              <a:t>and</a:t>
            </a:r>
            <a:r>
              <a:rPr lang="en-US" sz="1600" dirty="0">
                <a:solidFill>
                  <a:schemeClr val="tx1"/>
                </a:solidFill>
                <a:latin typeface="+mj-lt"/>
                <a:ea typeface="Poppins"/>
                <a:cs typeface="Poppins"/>
                <a:sym typeface="Poppins"/>
              </a:rPr>
              <a:t> </a:t>
            </a:r>
            <a:r>
              <a:rPr lang="en-US" sz="1400" cap="all" spc="150" dirty="0">
                <a:solidFill>
                  <a:schemeClr val="tx1"/>
                </a:solidFill>
                <a:latin typeface="+mj-lt"/>
                <a:cs typeface="Poppins"/>
                <a:sym typeface="Poppins"/>
              </a:rPr>
              <a:t>E-learning</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028369" y="3662247"/>
            <a:ext cx="3161756" cy="514350"/>
          </a:xfrm>
        </p:spPr>
        <p:txBody>
          <a:bodyPr/>
          <a:lstStyle/>
          <a:p>
            <a:r>
              <a:rPr lang="en-US" sz="1400" dirty="0">
                <a:solidFill>
                  <a:schemeClr val="tx1"/>
                </a:solidFill>
                <a:ea typeface="Poppins"/>
                <a:cs typeface="Poppins"/>
                <a:sym typeface="Poppins"/>
              </a:rPr>
              <a:t>3.Government Services </a:t>
            </a:r>
          </a:p>
          <a:p>
            <a:r>
              <a:rPr lang="en-US" sz="1400" dirty="0">
                <a:solidFill>
                  <a:schemeClr val="tx1"/>
                </a:solidFill>
                <a:ea typeface="Poppins"/>
                <a:cs typeface="Poppins"/>
                <a:sym typeface="Poppins"/>
              </a:rPr>
              <a:t>and E-Governance</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089251" y="4891424"/>
            <a:ext cx="3332389" cy="514350"/>
          </a:xfrm>
        </p:spPr>
        <p:txBody>
          <a:bodyPr/>
          <a:lstStyle/>
          <a:p>
            <a:r>
              <a:rPr lang="en-US" sz="1400" dirty="0">
                <a:solidFill>
                  <a:schemeClr val="tx1"/>
                </a:solidFill>
                <a:latin typeface="+mj-lt"/>
                <a:ea typeface="Poppins"/>
                <a:cs typeface="Poppins"/>
                <a:sym typeface="Poppins"/>
              </a:rPr>
              <a:t>4. </a:t>
            </a:r>
            <a:r>
              <a:rPr lang="en-US" sz="1400" dirty="0"/>
              <a:t>Expanding Research Scope</a:t>
            </a:r>
            <a:endParaRPr lang="en-US" sz="1400" dirty="0">
              <a:solidFill>
                <a:schemeClr val="tx1"/>
              </a:solidFill>
              <a:latin typeface="+mj-lt"/>
            </a:endParaRP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2389" y="1357608"/>
            <a:ext cx="5539095" cy="1010842"/>
          </a:xfrm>
        </p:spPr>
        <p:txBody>
          <a:bodyPr>
            <a:noAutofit/>
          </a:bodyPr>
          <a:lstStyle/>
          <a:p>
            <a:r>
              <a:rPr lang="en-US" dirty="0"/>
              <a:t>Telugu is a rich and expressive language with many variations in words and grammar. Translating it accurately is challenging, which motivates the need to build systems that can truly understand and convey its meaning in English.</a:t>
            </a:r>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normAutofit/>
          </a:bodyPr>
          <a:lstStyle/>
          <a:p>
            <a:r>
              <a:rPr lang="en-US" dirty="0"/>
              <a:t>Translate higher-education and e-learning content into Telugu to help rural and regional students access knowledge easily.</a:t>
            </a:r>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normAutofit/>
          </a:bodyPr>
          <a:lstStyle/>
          <a:p>
            <a:r>
              <a:rPr lang="en-US" dirty="0"/>
              <a:t>Many policies are launched in English first. Translating them into Telugu ensures wider participation in welfare schemes</a:t>
            </a:r>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normAutofit/>
          </a:bodyPr>
          <a:lstStyle/>
          <a:p>
            <a:r>
              <a:rPr lang="en-US" dirty="0"/>
              <a:t>Most research targets English–Hindi, while highly morphological languages like Telugu and other South/East Indian languages remain low-resource and underexplored.</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u="sng" dirty="0">
                <a:solidFill>
                  <a:schemeClr val="tx1"/>
                </a:solidFill>
                <a:ea typeface="Poppins"/>
                <a:cs typeface="Poppins"/>
                <a:sym typeface="Poppins"/>
              </a:rPr>
              <a:t>Objective</a:t>
            </a:r>
            <a:endParaRPr lang="en-US" dirty="0">
              <a:solidFill>
                <a:schemeClr val="tx1"/>
              </a:solidFill>
            </a:endParaRP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264920" y="4170945"/>
            <a:ext cx="5400040" cy="365125"/>
          </a:xfrm>
        </p:spPr>
        <p:txBody>
          <a:bodyPr>
            <a:noAutofit/>
          </a:bodyPr>
          <a:lstStyle/>
          <a:p>
            <a:pPr marL="259080" lvl="1" indent="0" algn="just">
              <a:lnSpc>
                <a:spcPts val="3359"/>
              </a:lnSpc>
              <a:buNone/>
            </a:pPr>
            <a:r>
              <a:rPr lang="en-US" sz="1800" dirty="0">
                <a:solidFill>
                  <a:schemeClr val="tx1"/>
                </a:solidFill>
                <a:latin typeface="Tenorite (Headings)"/>
                <a:ea typeface="Poppins"/>
                <a:cs typeface="Poppins"/>
                <a:sym typeface="Poppins"/>
              </a:rPr>
              <a:t> </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
        <p:nvSpPr>
          <p:cNvPr id="9"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885155" y="2381860"/>
            <a:ext cx="9463029" cy="2954043"/>
          </a:xfrm>
        </p:spPr>
        <p:txBody>
          <a:bodyPr vert="horz" lIns="91440" tIns="45720" rIns="91440" bIns="45720" rtlCol="0" anchor="t">
            <a:noAutofit/>
          </a:bodyPr>
          <a:lstStyle/>
          <a:p>
            <a:pPr marL="0" lvl="1" indent="0" algn="just">
              <a:lnSpc>
                <a:spcPts val="3359"/>
              </a:lnSpc>
              <a:buNone/>
            </a:pPr>
            <a:r>
              <a:rPr lang="en-US" sz="1800" dirty="0"/>
              <a:t>To develop an </a:t>
            </a:r>
            <a:r>
              <a:rPr lang="en-US" sz="1800" b="1" dirty="0"/>
              <a:t>English–Telugu Neural Machine Translation (NMT)</a:t>
            </a:r>
            <a:r>
              <a:rPr lang="en-US" sz="1800" dirty="0"/>
              <a:t> and </a:t>
            </a:r>
            <a:r>
              <a:rPr lang="en-US" sz="1800" b="1" dirty="0"/>
              <a:t>analyze its performance limitations</a:t>
            </a:r>
            <a:r>
              <a:rPr lang="en-US" sz="1800" dirty="0"/>
              <a:t>, identifying the factors that affect translation quality and model stability.</a:t>
            </a:r>
          </a:p>
          <a:p>
            <a:pPr marL="269875" lvl="1" indent="-269875" algn="just">
              <a:lnSpc>
                <a:spcPts val="3359"/>
              </a:lnSpc>
              <a:buNone/>
            </a:pPr>
            <a:endParaRPr lang="en-US" sz="1800" dirty="0">
              <a:solidFill>
                <a:schemeClr val="tx1"/>
              </a:solidFill>
              <a:cs typeface="Poppins"/>
              <a:sym typeface="Poppins"/>
            </a:endParaRP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
        <p:nvSpPr>
          <p:cNvPr id="30" name="TextBox 29">
            <a:extLst>
              <a:ext uri="{FF2B5EF4-FFF2-40B4-BE49-F238E27FC236}">
                <a16:creationId xmlns:a16="http://schemas.microsoft.com/office/drawing/2014/main" id="{A19B8B64-7BA0-7AD3-7BF4-5DE7FECDB1CE}"/>
              </a:ext>
            </a:extLst>
          </p:cNvPr>
          <p:cNvSpPr txBox="1"/>
          <p:nvPr/>
        </p:nvSpPr>
        <p:spPr>
          <a:xfrm>
            <a:off x="4370858" y="284480"/>
            <a:ext cx="3787622" cy="523220"/>
          </a:xfrm>
          <a:prstGeom prst="rect">
            <a:avLst/>
          </a:prstGeom>
          <a:noFill/>
        </p:spPr>
        <p:txBody>
          <a:bodyPr wrap="square" rtlCol="0">
            <a:spAutoFit/>
          </a:bodyPr>
          <a:lstStyle/>
          <a:p>
            <a:r>
              <a:rPr lang="en-US" sz="2800" u="sng" cap="all" spc="150" dirty="0">
                <a:latin typeface="+mj-lt"/>
                <a:cs typeface="Poppins"/>
              </a:rPr>
              <a:t>Literature</a:t>
            </a:r>
            <a:r>
              <a:rPr lang="en-US" u="sng" dirty="0"/>
              <a:t> </a:t>
            </a:r>
            <a:r>
              <a:rPr lang="en-US" sz="2800" u="sng" cap="all" spc="150" dirty="0">
                <a:latin typeface="+mj-lt"/>
                <a:cs typeface="Poppins"/>
              </a:rPr>
              <a:t>Survey</a:t>
            </a:r>
            <a:endParaRPr lang="en-IN" sz="2800" u="sng" cap="all" spc="150" dirty="0">
              <a:latin typeface="+mj-lt"/>
              <a:cs typeface="Poppins"/>
            </a:endParaRPr>
          </a:p>
        </p:txBody>
      </p:sp>
      <p:pic>
        <p:nvPicPr>
          <p:cNvPr id="32" name="Content Placeholder 6">
            <a:extLst>
              <a:ext uri="{FF2B5EF4-FFF2-40B4-BE49-F238E27FC236}">
                <a16:creationId xmlns:a16="http://schemas.microsoft.com/office/drawing/2014/main" id="{DC23B4B9-E053-ED24-4204-73FDF9F88C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6898" y="1148080"/>
            <a:ext cx="10418204" cy="5086752"/>
          </a:xfrm>
          <a:prstGeom prst="rect">
            <a:avLst/>
          </a:prstGeom>
        </p:spPr>
      </p:pic>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pic>
        <p:nvPicPr>
          <p:cNvPr id="1028" name="Picture 4"/>
          <p:cNvPicPr>
            <a:picLocks noChangeAspect="1" noChangeArrowheads="1"/>
          </p:cNvPicPr>
          <p:nvPr/>
        </p:nvPicPr>
        <p:blipFill>
          <a:blip r:embed="rId2"/>
          <a:srcRect/>
          <a:stretch>
            <a:fillRect/>
          </a:stretch>
        </p:blipFill>
        <p:spPr bwMode="auto">
          <a:xfrm>
            <a:off x="436345" y="684213"/>
            <a:ext cx="10974388" cy="6173787"/>
          </a:xfrm>
          <a:prstGeom prst="rect">
            <a:avLst/>
          </a:prstGeom>
        </p:spPr>
      </p:pic>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13936" y="520282"/>
            <a:ext cx="10974388" cy="6173787"/>
          </a:xfrm>
          <a:prstGeom prst="rect">
            <a:avLst/>
          </a:prstGeom>
        </p:spPr>
      </p:pic>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4792409" y="1173091"/>
            <a:ext cx="5431971" cy="846301"/>
          </a:xfrm>
        </p:spPr>
        <p:txBody>
          <a:bodyPr>
            <a:normAutofit fontScale="90000"/>
          </a:bodyPr>
          <a:lstStyle/>
          <a:p>
            <a:r>
              <a:rPr lang="en-US" u="sng" dirty="0">
                <a:solidFill>
                  <a:schemeClr val="tx1"/>
                </a:solidFill>
                <a:ea typeface="Poppins"/>
                <a:cs typeface="Poppins"/>
                <a:sym typeface="Poppins"/>
              </a:rPr>
              <a:t>Conclusion from Literature Survey</a:t>
            </a:r>
            <a:endParaRPr lang="en-US" dirty="0">
              <a:solidFill>
                <a:schemeClr val="tx1"/>
              </a:solidFill>
            </a:endParaRP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4490720" y="2427627"/>
            <a:ext cx="7575938" cy="365125"/>
          </a:xfrm>
        </p:spPr>
        <p:txBody>
          <a:bodyPr vert="horz" lIns="91440" tIns="45720" rIns="91440" bIns="45720" rtlCol="0" anchor="t">
            <a:noAutofit/>
          </a:bodyPr>
          <a:lstStyle/>
          <a:p>
            <a:pPr marL="561341" lvl="1" indent="-280670">
              <a:lnSpc>
                <a:spcPts val="3640"/>
              </a:lnSpc>
              <a:buAutoNum type="arabicPeriod"/>
            </a:pPr>
            <a:r>
              <a:rPr lang="en-US" sz="1600" dirty="0">
                <a:solidFill>
                  <a:schemeClr val="tx1"/>
                </a:solidFill>
                <a:ea typeface="Poppins"/>
                <a:cs typeface="Poppins"/>
                <a:sym typeface="Poppins"/>
              </a:rPr>
              <a:t>Transformer models consistently give better accuracy and BLEU </a:t>
            </a:r>
          </a:p>
          <a:p>
            <a:pPr marL="561341" lvl="1" indent="-280670">
              <a:lnSpc>
                <a:spcPts val="3640"/>
              </a:lnSpc>
              <a:buAutoNum type="arabicPeriod"/>
            </a:pPr>
            <a:r>
              <a:rPr lang="en-US" sz="1600" dirty="0">
                <a:solidFill>
                  <a:schemeClr val="tx1"/>
                </a:solidFill>
                <a:ea typeface="Poppins"/>
                <a:cs typeface="Poppins"/>
                <a:sym typeface="Poppins"/>
              </a:rPr>
              <a:t>Attention mechanisms </a:t>
            </a:r>
            <a:r>
              <a:rPr lang="en-US" sz="1600" dirty="0">
                <a:solidFill>
                  <a:schemeClr val="tx1"/>
                </a:solidFill>
              </a:rPr>
              <a:t>improve grammar handling and correct word order</a:t>
            </a:r>
            <a:endParaRPr lang="en-US" sz="1600" dirty="0">
              <a:solidFill>
                <a:schemeClr val="tx1"/>
              </a:solidFill>
              <a:ea typeface="Poppins"/>
              <a:cs typeface="Poppins"/>
              <a:sym typeface="Poppins"/>
            </a:endParaRPr>
          </a:p>
          <a:p>
            <a:pPr marL="561341" lvl="1" indent="-280670">
              <a:lnSpc>
                <a:spcPts val="3640"/>
              </a:lnSpc>
              <a:buAutoNum type="arabicPeriod"/>
            </a:pPr>
            <a:r>
              <a:rPr lang="en-US" sz="1600" dirty="0">
                <a:solidFill>
                  <a:schemeClr val="tx1"/>
                </a:solidFill>
                <a:ea typeface="Poppins"/>
                <a:cs typeface="Poppins"/>
                <a:sym typeface="Poppins"/>
              </a:rPr>
              <a:t>Sub-word segmentation (BPE) </a:t>
            </a:r>
            <a:r>
              <a:rPr lang="en-US" sz="1600" dirty="0">
                <a:solidFill>
                  <a:schemeClr val="tx1"/>
                </a:solidFill>
              </a:rPr>
              <a:t>helps manage rare words and morphology</a:t>
            </a:r>
            <a:endParaRPr lang="en-US" sz="1600" dirty="0">
              <a:solidFill>
                <a:schemeClr val="tx1"/>
              </a:solidFill>
              <a:ea typeface="Poppins"/>
              <a:cs typeface="Poppins"/>
              <a:sym typeface="Poppins"/>
            </a:endParaRPr>
          </a:p>
          <a:p>
            <a:pPr marL="561341" lvl="1" indent="-280670">
              <a:lnSpc>
                <a:spcPts val="3640"/>
              </a:lnSpc>
              <a:buAutoNum type="arabicPeriod"/>
            </a:pPr>
            <a:r>
              <a:rPr lang="en-US" sz="1600" dirty="0">
                <a:solidFill>
                  <a:schemeClr val="tx1"/>
                </a:solidFill>
                <a:ea typeface="Poppins"/>
                <a:cs typeface="Poppins"/>
                <a:sym typeface="Poppins"/>
              </a:rPr>
              <a:t>Research still shows BLEU ~17–25 for English    Telugu</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8</a:t>
            </a:fld>
            <a:endParaRPr lang="en-US" dirty="0"/>
          </a:p>
        </p:txBody>
      </p:sp>
      <p:cxnSp>
        <p:nvCxnSpPr>
          <p:cNvPr id="10" name="Straight Arrow Connector 9"/>
          <p:cNvCxnSpPr/>
          <p:nvPr/>
        </p:nvCxnSpPr>
        <p:spPr>
          <a:xfrm>
            <a:off x="9071809" y="4309444"/>
            <a:ext cx="19250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128712" y="892177"/>
            <a:ext cx="8421688" cy="1325563"/>
          </a:xfrm>
        </p:spPr>
        <p:txBody>
          <a:bodyPr/>
          <a:lstStyle/>
          <a:p>
            <a:r>
              <a:rPr lang="en-US" u="sng" dirty="0">
                <a:solidFill>
                  <a:schemeClr val="tx1"/>
                </a:solidFill>
                <a:ea typeface="Poppins"/>
                <a:cs typeface="Poppins"/>
                <a:sym typeface="Poppins"/>
              </a:rPr>
              <a:t>Limitations of Existing Methods</a:t>
            </a:r>
            <a:endParaRPr lang="en-US" dirty="0">
              <a:solidFill>
                <a:schemeClr val="tx1"/>
              </a:solidFill>
            </a:endParaRP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
        <p:nvSpPr>
          <p:cNvPr id="22" name="TextBox 21">
            <a:extLst>
              <a:ext uri="{FF2B5EF4-FFF2-40B4-BE49-F238E27FC236}">
                <a16:creationId xmlns:a16="http://schemas.microsoft.com/office/drawing/2014/main" id="{E7D162A9-7B12-A042-5EBC-1F9D39AC74E8}"/>
              </a:ext>
            </a:extLst>
          </p:cNvPr>
          <p:cNvSpPr txBox="1"/>
          <p:nvPr/>
        </p:nvSpPr>
        <p:spPr>
          <a:xfrm>
            <a:off x="2072640" y="2550160"/>
            <a:ext cx="8409272" cy="2862322"/>
          </a:xfrm>
          <a:prstGeom prst="rect">
            <a:avLst/>
          </a:prstGeom>
          <a:noFill/>
        </p:spPr>
        <p:txBody>
          <a:bodyPr wrap="square" rtlCol="0">
            <a:spAutoFit/>
          </a:bodyPr>
          <a:lstStyle/>
          <a:p>
            <a:pPr>
              <a:lnSpc>
                <a:spcPct val="150000"/>
              </a:lnSpc>
              <a:buNone/>
            </a:pPr>
            <a:r>
              <a:rPr lang="en-US" sz="2000" dirty="0">
                <a:solidFill>
                  <a:srgbClr val="282828"/>
                </a:solidFill>
              </a:rPr>
              <a:t>• Lack of large, high-quality English   Telugu parallel corpora.</a:t>
            </a:r>
          </a:p>
          <a:p>
            <a:pPr>
              <a:lnSpc>
                <a:spcPct val="150000"/>
              </a:lnSpc>
              <a:buNone/>
            </a:pPr>
            <a:r>
              <a:rPr lang="en-US" sz="2000" dirty="0">
                <a:solidFill>
                  <a:srgbClr val="282828"/>
                </a:solidFill>
              </a:rPr>
              <a:t>• Poor handling of morphological variations and compound words.</a:t>
            </a:r>
          </a:p>
          <a:p>
            <a:pPr>
              <a:lnSpc>
                <a:spcPct val="150000"/>
              </a:lnSpc>
              <a:buNone/>
            </a:pPr>
            <a:r>
              <a:rPr lang="en-US" sz="2000" dirty="0">
                <a:solidFill>
                  <a:srgbClr val="282828"/>
                </a:solidFill>
              </a:rPr>
              <a:t>• Frequent named-entity and transliteration errors.</a:t>
            </a:r>
          </a:p>
          <a:p>
            <a:pPr>
              <a:lnSpc>
                <a:spcPct val="150000"/>
              </a:lnSpc>
              <a:buNone/>
            </a:pPr>
            <a:r>
              <a:rPr lang="en-US" sz="2000" dirty="0">
                <a:solidFill>
                  <a:srgbClr val="282828"/>
                </a:solidFill>
              </a:rPr>
              <a:t>• Weak context preservation in long or complex sentences.</a:t>
            </a:r>
          </a:p>
          <a:p>
            <a:pPr>
              <a:lnSpc>
                <a:spcPct val="150000"/>
              </a:lnSpc>
              <a:buNone/>
            </a:pPr>
            <a:r>
              <a:rPr lang="en-US" sz="2000" dirty="0">
                <a:solidFill>
                  <a:srgbClr val="282828"/>
                </a:solidFill>
              </a:rPr>
              <a:t>• Limited domain adaptability for technical or conversational text.</a:t>
            </a:r>
          </a:p>
          <a:p>
            <a:pPr>
              <a:lnSpc>
                <a:spcPct val="150000"/>
              </a:lnSpc>
            </a:pPr>
            <a:endParaRPr lang="en-IN" sz="2000" dirty="0"/>
          </a:p>
        </p:txBody>
      </p:sp>
      <p:cxnSp>
        <p:nvCxnSpPr>
          <p:cNvPr id="5" name="Straight Arrow Connector 4"/>
          <p:cNvCxnSpPr/>
          <p:nvPr/>
        </p:nvCxnSpPr>
        <p:spPr>
          <a:xfrm>
            <a:off x="6131291" y="2877954"/>
            <a:ext cx="19250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EE627-30F6-0101-9030-022F17937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3D531-D2B1-BB55-C91F-26C6B96A3BF6}"/>
              </a:ext>
            </a:extLst>
          </p:cNvPr>
          <p:cNvSpPr>
            <a:spLocks noGrp="1"/>
          </p:cNvSpPr>
          <p:nvPr>
            <p:ph type="title"/>
          </p:nvPr>
        </p:nvSpPr>
        <p:spPr>
          <a:xfrm>
            <a:off x="-974295" y="141007"/>
            <a:ext cx="5994400" cy="907354"/>
          </a:xfrm>
        </p:spPr>
        <p:txBody>
          <a:bodyPr/>
          <a:lstStyle/>
          <a:p>
            <a:r>
              <a:rPr lang="en-IN" u="sng" dirty="0">
                <a:solidFill>
                  <a:srgbClr val="282828"/>
                </a:solidFill>
              </a:rPr>
              <a:t>Proposed System</a:t>
            </a:r>
            <a:endParaRPr lang="en-US" dirty="0">
              <a:solidFill>
                <a:schemeClr val="tx1"/>
              </a:solidFill>
            </a:endParaRPr>
          </a:p>
        </p:txBody>
      </p:sp>
      <p:sp>
        <p:nvSpPr>
          <p:cNvPr id="11" name="Slide Number Placeholder 10">
            <a:extLst>
              <a:ext uri="{FF2B5EF4-FFF2-40B4-BE49-F238E27FC236}">
                <a16:creationId xmlns:a16="http://schemas.microsoft.com/office/drawing/2014/main" id="{2C9FE6AF-313C-DCA5-36CD-611B77200D17}"/>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
        <p:nvSpPr>
          <p:cNvPr id="5" name="Rectangle: Rounded Corners 4">
            <a:extLst>
              <a:ext uri="{FF2B5EF4-FFF2-40B4-BE49-F238E27FC236}">
                <a16:creationId xmlns:a16="http://schemas.microsoft.com/office/drawing/2014/main" id="{749021D4-28C6-315E-3944-A62089D5602B}"/>
              </a:ext>
            </a:extLst>
          </p:cNvPr>
          <p:cNvSpPr/>
          <p:nvPr/>
        </p:nvSpPr>
        <p:spPr>
          <a:xfrm>
            <a:off x="3581400" y="1696135"/>
            <a:ext cx="4836160" cy="7808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en-IN" sz="1400" dirty="0">
              <a:solidFill>
                <a:srgbClr val="282828"/>
              </a:solidFill>
            </a:endParaRPr>
          </a:p>
          <a:p>
            <a:pPr lvl="0" eaLnBrk="0" fontAlgn="base" hangingPunct="0">
              <a:spcBef>
                <a:spcPct val="0"/>
              </a:spcBef>
              <a:spcAft>
                <a:spcPct val="0"/>
              </a:spcAft>
            </a:pPr>
            <a:endParaRPr lang="en-IN" sz="1400" dirty="0">
              <a:solidFill>
                <a:srgbClr val="282828"/>
              </a:solidFill>
            </a:endParaRPr>
          </a:p>
          <a:p>
            <a:pPr lvl="0" eaLnBrk="0" fontAlgn="base" hangingPunct="0">
              <a:spcBef>
                <a:spcPct val="0"/>
              </a:spcBef>
              <a:spcAft>
                <a:spcPct val="0"/>
              </a:spcAft>
            </a:pPr>
            <a:endParaRPr lang="en-IN" sz="1400" dirty="0">
              <a:solidFill>
                <a:srgbClr val="282828"/>
              </a:solidFill>
            </a:endParaRPr>
          </a:p>
          <a:p>
            <a:pPr lvl="0" eaLnBrk="0" fontAlgn="base" hangingPunct="0">
              <a:spcBef>
                <a:spcPct val="0"/>
              </a:spcBef>
              <a:spcAft>
                <a:spcPct val="0"/>
              </a:spcAft>
            </a:pPr>
            <a:r>
              <a:rPr lang="en-IN" sz="1400" dirty="0">
                <a:solidFill>
                  <a:srgbClr val="282828"/>
                </a:solidFill>
              </a:rPr>
              <a:t>Preprocessing: </a:t>
            </a:r>
            <a:r>
              <a:rPr lang="en-US" altLang="en-US" sz="1400" dirty="0">
                <a:solidFill>
                  <a:srgbClr val="282828"/>
                </a:solidFill>
              </a:rPr>
              <a:t>Custom separator-based parsing of parallel data (++++$++++)</a:t>
            </a:r>
          </a:p>
          <a:p>
            <a:pPr lvl="0" eaLnBrk="0" fontAlgn="base" hangingPunct="0">
              <a:spcBef>
                <a:spcPct val="0"/>
              </a:spcBef>
              <a:spcAft>
                <a:spcPct val="0"/>
              </a:spcAft>
            </a:pPr>
            <a:endParaRPr lang="en-US" altLang="en-US" sz="1400" dirty="0">
              <a:solidFill>
                <a:srgbClr val="282828"/>
              </a:solidFill>
            </a:endParaRPr>
          </a:p>
          <a:p>
            <a:pPr algn="ctr"/>
            <a:endParaRPr lang="en-IN" sz="1400" dirty="0"/>
          </a:p>
          <a:p>
            <a:pPr algn="ctr"/>
            <a:endParaRPr lang="en-IN" sz="1400" dirty="0"/>
          </a:p>
        </p:txBody>
      </p:sp>
      <p:sp>
        <p:nvSpPr>
          <p:cNvPr id="6" name="Rectangle: Rounded Corners 5">
            <a:extLst>
              <a:ext uri="{FF2B5EF4-FFF2-40B4-BE49-F238E27FC236}">
                <a16:creationId xmlns:a16="http://schemas.microsoft.com/office/drawing/2014/main" id="{383781B9-43D4-2DE4-4180-DD161604DEE7}"/>
              </a:ext>
            </a:extLst>
          </p:cNvPr>
          <p:cNvSpPr/>
          <p:nvPr/>
        </p:nvSpPr>
        <p:spPr>
          <a:xfrm>
            <a:off x="3596641" y="2995100"/>
            <a:ext cx="4820919" cy="7808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dirty="0">
              <a:solidFill>
                <a:srgbClr val="282828"/>
              </a:solidFill>
            </a:endParaRPr>
          </a:p>
          <a:p>
            <a:pPr algn="ctr"/>
            <a:r>
              <a:rPr lang="en-IN" sz="1400" dirty="0">
                <a:solidFill>
                  <a:srgbClr val="282828"/>
                </a:solidFill>
              </a:rPr>
              <a:t>Seq2Seq Neural Machine Translation Model Architecture: 4-layer encoder + 4-layer decoder with multi-head attention</a:t>
            </a:r>
          </a:p>
          <a:p>
            <a:pPr algn="ctr"/>
            <a:endParaRPr lang="en-IN" sz="1400" dirty="0"/>
          </a:p>
        </p:txBody>
      </p:sp>
      <p:sp>
        <p:nvSpPr>
          <p:cNvPr id="7" name="Rectangle: Rounded Corners 6">
            <a:extLst>
              <a:ext uri="{FF2B5EF4-FFF2-40B4-BE49-F238E27FC236}">
                <a16:creationId xmlns:a16="http://schemas.microsoft.com/office/drawing/2014/main" id="{10801A3F-B318-9E2C-B2C5-A5FBDCDF3DEA}"/>
              </a:ext>
            </a:extLst>
          </p:cNvPr>
          <p:cNvSpPr/>
          <p:nvPr/>
        </p:nvSpPr>
        <p:spPr>
          <a:xfrm>
            <a:off x="3596641" y="4294065"/>
            <a:ext cx="4820920" cy="518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dirty="0">
              <a:solidFill>
                <a:srgbClr val="282828"/>
              </a:solidFill>
            </a:endParaRPr>
          </a:p>
          <a:p>
            <a:pPr algn="ctr"/>
            <a:r>
              <a:rPr lang="en-IN" sz="1400" dirty="0">
                <a:solidFill>
                  <a:srgbClr val="282828"/>
                </a:solidFill>
              </a:rPr>
              <a:t>Training: Adam optimizer, warm-up learning rate, label smoothing 0.1.</a:t>
            </a:r>
          </a:p>
          <a:p>
            <a:pPr algn="ctr"/>
            <a:endParaRPr lang="en-IN" sz="1400" dirty="0"/>
          </a:p>
        </p:txBody>
      </p:sp>
      <p:sp>
        <p:nvSpPr>
          <p:cNvPr id="8" name="Rectangle: Rounded Corners 7">
            <a:extLst>
              <a:ext uri="{FF2B5EF4-FFF2-40B4-BE49-F238E27FC236}">
                <a16:creationId xmlns:a16="http://schemas.microsoft.com/office/drawing/2014/main" id="{0385C8E7-C7F5-B103-8447-F07D7E756F48}"/>
              </a:ext>
            </a:extLst>
          </p:cNvPr>
          <p:cNvSpPr/>
          <p:nvPr/>
        </p:nvSpPr>
        <p:spPr>
          <a:xfrm>
            <a:off x="3596641" y="5248662"/>
            <a:ext cx="4820920" cy="518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282828"/>
                </a:solidFill>
              </a:rPr>
              <a:t>Save model and tokenizer to local/Google Drive</a:t>
            </a:r>
            <a:r>
              <a:rPr lang="en-IN" sz="1400" dirty="0">
                <a:solidFill>
                  <a:srgbClr val="282828"/>
                </a:solidFill>
              </a:rPr>
              <a:t>.</a:t>
            </a:r>
            <a:endParaRPr lang="en-IN" sz="1400" dirty="0"/>
          </a:p>
        </p:txBody>
      </p:sp>
      <p:sp>
        <p:nvSpPr>
          <p:cNvPr id="9" name="Rectangle: Rounded Corners 8">
            <a:extLst>
              <a:ext uri="{FF2B5EF4-FFF2-40B4-BE49-F238E27FC236}">
                <a16:creationId xmlns:a16="http://schemas.microsoft.com/office/drawing/2014/main" id="{581E1A65-4265-6AD1-C43B-8B63AB2C975A}"/>
              </a:ext>
            </a:extLst>
          </p:cNvPr>
          <p:cNvSpPr/>
          <p:nvPr/>
        </p:nvSpPr>
        <p:spPr>
          <a:xfrm>
            <a:off x="3596642" y="6241872"/>
            <a:ext cx="4836160" cy="518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282828"/>
                </a:solidFill>
              </a:rPr>
              <a:t>Testing the model and result evaluation</a:t>
            </a:r>
          </a:p>
        </p:txBody>
      </p:sp>
      <p:cxnSp>
        <p:nvCxnSpPr>
          <p:cNvPr id="18" name="Straight Arrow Connector 17">
            <a:extLst>
              <a:ext uri="{FF2B5EF4-FFF2-40B4-BE49-F238E27FC236}">
                <a16:creationId xmlns:a16="http://schemas.microsoft.com/office/drawing/2014/main" id="{B78210D9-B802-B980-EDC4-0C058D0C89B2}"/>
              </a:ext>
            </a:extLst>
          </p:cNvPr>
          <p:cNvCxnSpPr>
            <a:cxnSpLocks/>
            <a:stCxn id="5" idx="2"/>
            <a:endCxn id="6" idx="0"/>
          </p:cNvCxnSpPr>
          <p:nvPr/>
        </p:nvCxnSpPr>
        <p:spPr>
          <a:xfrm>
            <a:off x="5999480" y="2476940"/>
            <a:ext cx="7621" cy="518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C48CB86-E68E-3BAF-C36C-1676EDB0ABB0}"/>
              </a:ext>
            </a:extLst>
          </p:cNvPr>
          <p:cNvCxnSpPr>
            <a:cxnSpLocks/>
            <a:stCxn id="6" idx="2"/>
            <a:endCxn id="7" idx="0"/>
          </p:cNvCxnSpPr>
          <p:nvPr/>
        </p:nvCxnSpPr>
        <p:spPr>
          <a:xfrm>
            <a:off x="6007101" y="3775905"/>
            <a:ext cx="0" cy="518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44D0FC-3910-5F2E-B46A-4485DB634320}"/>
              </a:ext>
            </a:extLst>
          </p:cNvPr>
          <p:cNvCxnSpPr>
            <a:cxnSpLocks/>
            <a:stCxn id="7" idx="2"/>
            <a:endCxn id="8" idx="0"/>
          </p:cNvCxnSpPr>
          <p:nvPr/>
        </p:nvCxnSpPr>
        <p:spPr>
          <a:xfrm>
            <a:off x="6007101" y="4812225"/>
            <a:ext cx="0" cy="4364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6A34EDB-77FF-AFB9-37F9-89F4F923D9B7}"/>
              </a:ext>
            </a:extLst>
          </p:cNvPr>
          <p:cNvCxnSpPr>
            <a:cxnSpLocks/>
            <a:stCxn id="8" idx="2"/>
            <a:endCxn id="9" idx="0"/>
          </p:cNvCxnSpPr>
          <p:nvPr/>
        </p:nvCxnSpPr>
        <p:spPr>
          <a:xfrm>
            <a:off x="6007101" y="5766822"/>
            <a:ext cx="7621" cy="4750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AD9190E4-B769-C839-91FB-4510C91A49A4}"/>
              </a:ext>
            </a:extLst>
          </p:cNvPr>
          <p:cNvSpPr/>
          <p:nvPr/>
        </p:nvSpPr>
        <p:spPr>
          <a:xfrm>
            <a:off x="3677920" y="939904"/>
            <a:ext cx="4836160" cy="3757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rgbClr val="282828"/>
                </a:solidFill>
              </a:rPr>
              <a:t>Dataset loading</a:t>
            </a:r>
          </a:p>
        </p:txBody>
      </p:sp>
      <p:cxnSp>
        <p:nvCxnSpPr>
          <p:cNvPr id="47" name="Straight Arrow Connector 46">
            <a:extLst>
              <a:ext uri="{FF2B5EF4-FFF2-40B4-BE49-F238E27FC236}">
                <a16:creationId xmlns:a16="http://schemas.microsoft.com/office/drawing/2014/main" id="{FA0474B4-6C4A-96F4-7392-7A1EE02C29B7}"/>
              </a:ext>
            </a:extLst>
          </p:cNvPr>
          <p:cNvCxnSpPr>
            <a:cxnSpLocks/>
          </p:cNvCxnSpPr>
          <p:nvPr/>
        </p:nvCxnSpPr>
        <p:spPr>
          <a:xfrm>
            <a:off x="5994404" y="1325631"/>
            <a:ext cx="15242" cy="3804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5316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462013" y="2867693"/>
            <a:ext cx="3154947" cy="705168"/>
          </a:xfrm>
        </p:spPr>
        <p:txBody>
          <a:bodyPr lIns="0">
            <a:normAutofit/>
          </a:bodyPr>
          <a:lstStyle/>
          <a:p>
            <a:r>
              <a:rPr lang="en-IN" u="sng" dirty="0"/>
              <a:t>Preprocessing</a:t>
            </a:r>
            <a:endParaRPr lang="en-US" u="sng" dirty="0"/>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762945-C36E-204A-0C86-2B15512B9A42}"/>
              </a:ext>
            </a:extLst>
          </p:cNvPr>
          <p:cNvSpPr txBox="1"/>
          <p:nvPr/>
        </p:nvSpPr>
        <p:spPr>
          <a:xfrm>
            <a:off x="395152" y="3502158"/>
            <a:ext cx="6502400" cy="1615827"/>
          </a:xfrm>
          <a:prstGeom prst="rect">
            <a:avLst/>
          </a:prstGeom>
          <a:noFill/>
        </p:spPr>
        <p:txBody>
          <a:bodyPr wrap="square" rtlCol="0">
            <a:spAutoFit/>
          </a:bodyPr>
          <a:lstStyle/>
          <a:p>
            <a:pPr>
              <a:lnSpc>
                <a:spcPct val="150000"/>
              </a:lnSpc>
            </a:pPr>
            <a:r>
              <a:rPr lang="en-IN" dirty="0"/>
              <a:t>Custom separator-based parsing of parallel data (++++$++++)</a:t>
            </a:r>
          </a:p>
          <a:p>
            <a:pPr>
              <a:lnSpc>
                <a:spcPct val="150000"/>
              </a:lnSpc>
            </a:pPr>
            <a:r>
              <a:rPr lang="en-IN" dirty="0"/>
              <a:t>Cleaning &amp; trimming of sentences</a:t>
            </a:r>
          </a:p>
          <a:p>
            <a:pPr>
              <a:lnSpc>
                <a:spcPct val="150000"/>
              </a:lnSpc>
            </a:pPr>
            <a:r>
              <a:rPr lang="en-IN" dirty="0"/>
              <a:t>Dataset size : (155798, 2)</a:t>
            </a:r>
          </a:p>
          <a:p>
            <a:endParaRPr lang="en-IN" dirty="0"/>
          </a:p>
        </p:txBody>
      </p:sp>
      <p:sp>
        <p:nvSpPr>
          <p:cNvPr id="18" name="TextBox 17">
            <a:extLst>
              <a:ext uri="{FF2B5EF4-FFF2-40B4-BE49-F238E27FC236}">
                <a16:creationId xmlns:a16="http://schemas.microsoft.com/office/drawing/2014/main" id="{78F42610-0708-59CB-A4D9-A0E2891CE376}"/>
              </a:ext>
            </a:extLst>
          </p:cNvPr>
          <p:cNvSpPr txBox="1"/>
          <p:nvPr/>
        </p:nvSpPr>
        <p:spPr>
          <a:xfrm>
            <a:off x="395152" y="5086869"/>
            <a:ext cx="5396048" cy="1200329"/>
          </a:xfrm>
          <a:prstGeom prst="rect">
            <a:avLst/>
          </a:prstGeom>
          <a:noFill/>
        </p:spPr>
        <p:txBody>
          <a:bodyPr wrap="square" rtlCol="0">
            <a:spAutoFit/>
          </a:bodyPr>
          <a:lstStyle/>
          <a:p>
            <a:r>
              <a:rPr lang="en-IN" b="1" u="sng" dirty="0">
                <a:hlinkClick r:id="rId2">
                  <a:extLst>
                    <a:ext uri="{A12FA001-AC4F-418D-AE19-62706E023703}">
                      <ahyp:hlinkClr xmlns:ahyp="http://schemas.microsoft.com/office/drawing/2018/hyperlinkcolor" val="tx"/>
                    </a:ext>
                  </a:extLst>
                </a:hlinkClick>
              </a:rPr>
              <a:t>Dataset link : </a:t>
            </a:r>
            <a:r>
              <a:rPr lang="en-IN" dirty="0"/>
              <a:t>https://www.kaggle.com/datasets/pavanreddy6/english-telugu-pairs?select=english_telugu_data.txt</a:t>
            </a:r>
          </a:p>
          <a:p>
            <a:endParaRPr lang="en-IN" dirty="0"/>
          </a:p>
        </p:txBody>
      </p:sp>
      <p:sp>
        <p:nvSpPr>
          <p:cNvPr id="21" name="TextBox 20">
            <a:extLst>
              <a:ext uri="{FF2B5EF4-FFF2-40B4-BE49-F238E27FC236}">
                <a16:creationId xmlns:a16="http://schemas.microsoft.com/office/drawing/2014/main" id="{9F342EFB-AF9A-0C37-A765-177F4F6E3FD5}"/>
              </a:ext>
            </a:extLst>
          </p:cNvPr>
          <p:cNvSpPr txBox="1"/>
          <p:nvPr/>
        </p:nvSpPr>
        <p:spPr>
          <a:xfrm>
            <a:off x="7289352" y="2611453"/>
            <a:ext cx="1039323" cy="369332"/>
          </a:xfrm>
          <a:prstGeom prst="rect">
            <a:avLst/>
          </a:prstGeom>
          <a:noFill/>
        </p:spPr>
        <p:txBody>
          <a:bodyPr wrap="none" rtlCol="0">
            <a:spAutoFit/>
          </a:bodyPr>
          <a:lstStyle/>
          <a:p>
            <a:r>
              <a:rPr lang="en-IN" dirty="0"/>
              <a:t>Dataset:</a:t>
            </a:r>
          </a:p>
        </p:txBody>
      </p:sp>
      <p:pic>
        <p:nvPicPr>
          <p:cNvPr id="23" name="Picture 22">
            <a:extLst>
              <a:ext uri="{FF2B5EF4-FFF2-40B4-BE49-F238E27FC236}">
                <a16:creationId xmlns:a16="http://schemas.microsoft.com/office/drawing/2014/main" id="{AF74F43F-7DDA-8C50-B6D8-5502C7C0EE1E}"/>
              </a:ext>
            </a:extLst>
          </p:cNvPr>
          <p:cNvPicPr>
            <a:picLocks noChangeAspect="1"/>
          </p:cNvPicPr>
          <p:nvPr/>
        </p:nvPicPr>
        <p:blipFill>
          <a:blip r:embed="rId3"/>
          <a:stretch>
            <a:fillRect/>
          </a:stretch>
        </p:blipFill>
        <p:spPr>
          <a:xfrm>
            <a:off x="7378699" y="3012608"/>
            <a:ext cx="4639322" cy="3343742"/>
          </a:xfrm>
          <a:prstGeom prst="rect">
            <a:avLst/>
          </a:prstGeom>
        </p:spPr>
      </p:pic>
      <p:sp>
        <p:nvSpPr>
          <p:cNvPr id="11" name="Title 3">
            <a:extLst>
              <a:ext uri="{FF2B5EF4-FFF2-40B4-BE49-F238E27FC236}">
                <a16:creationId xmlns:a16="http://schemas.microsoft.com/office/drawing/2014/main" id="{971188AF-1B8F-40DD-90B1-DC0F52BA46BA}"/>
              </a:ext>
            </a:extLst>
          </p:cNvPr>
          <p:cNvSpPr txBox="1">
            <a:spLocks/>
          </p:cNvSpPr>
          <p:nvPr/>
        </p:nvSpPr>
        <p:spPr>
          <a:xfrm>
            <a:off x="450783" y="382779"/>
            <a:ext cx="3154947" cy="705168"/>
          </a:xfrm>
          <a:prstGeom prst="rect">
            <a:avLst/>
          </a:prstGeom>
        </p:spPr>
        <p:txBody>
          <a:bodyPr vert="horz" lIns="0" tIns="45720" rIns="91440" bIns="45720" rtlCol="0" anchor="ctr">
            <a:normAutofit fontScale="97500"/>
          </a:bodyPr>
          <a:lstStyle/>
          <a:p>
            <a:pPr lvl="0" algn="ctr"/>
            <a:r>
              <a:rPr lang="en-IN" sz="2600" u="sng" cap="all" spc="150" dirty="0">
                <a:solidFill>
                  <a:schemeClr val="tx1">
                    <a:lumMod val="75000"/>
                    <a:lumOff val="25000"/>
                  </a:schemeClr>
                </a:solidFill>
                <a:latin typeface="+mj-lt"/>
                <a:ea typeface="+mj-ea"/>
                <a:cs typeface="+mj-cs"/>
              </a:rPr>
              <a:t>Dataset loading</a:t>
            </a:r>
          </a:p>
          <a:p>
            <a:pPr>
              <a:lnSpc>
                <a:spcPct val="90000"/>
              </a:lnSpc>
              <a:spcBef>
                <a:spcPct val="0"/>
              </a:spcBef>
            </a:pPr>
            <a:endParaRPr kumimoji="0" lang="en-US" sz="2500" b="0" i="0" u="sng" strike="noStrike" kern="1200" cap="all" spc="150" normalizeH="0" baseline="0" noProof="0" dirty="0">
              <a:ln>
                <a:noFill/>
              </a:ln>
              <a:solidFill>
                <a:schemeClr val="tx1">
                  <a:lumMod val="75000"/>
                  <a:lumOff val="25000"/>
                </a:schemeClr>
              </a:solidFill>
              <a:effectLst/>
              <a:uLnTx/>
              <a:uFillTx/>
              <a:latin typeface="+mj-lt"/>
              <a:ea typeface="+mj-ea"/>
              <a:cs typeface="+mj-cs"/>
            </a:endParaRPr>
          </a:p>
        </p:txBody>
      </p:sp>
      <p:pic>
        <p:nvPicPr>
          <p:cNvPr id="1026" name="Picture 2"/>
          <p:cNvPicPr>
            <a:picLocks noChangeAspect="1" noChangeArrowheads="1"/>
          </p:cNvPicPr>
          <p:nvPr/>
        </p:nvPicPr>
        <p:blipFill>
          <a:blip r:embed="rId4"/>
          <a:srcRect/>
          <a:stretch>
            <a:fillRect/>
          </a:stretch>
        </p:blipFill>
        <p:spPr bwMode="auto">
          <a:xfrm>
            <a:off x="528938" y="891239"/>
            <a:ext cx="4100813" cy="1766293"/>
          </a:xfrm>
          <a:prstGeom prst="rect">
            <a:avLst/>
          </a:prstGeom>
          <a:noFill/>
          <a:ln w="9525">
            <a:noFill/>
            <a:miter lim="800000"/>
            <a:headEnd/>
            <a:tailEnd/>
          </a:ln>
          <a:effectLst/>
        </p:spPr>
      </p:pic>
    </p:spTree>
    <p:extLst>
      <p:ext uri="{BB962C8B-B14F-4D97-AF65-F5344CB8AC3E}">
        <p14:creationId xmlns:p14="http://schemas.microsoft.com/office/powerpoint/2010/main" val="473871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341B9-807D-4C82-0FD0-7A45346A526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B88F4858-0B26-25DC-399D-B4A0AD9914FB}"/>
              </a:ext>
            </a:extLst>
          </p:cNvPr>
          <p:cNvSpPr>
            <a:spLocks noGrp="1"/>
          </p:cNvSpPr>
          <p:nvPr>
            <p:ph type="sldNum" sz="quarter" idx="12"/>
          </p:nvPr>
        </p:nvSpPr>
        <p:spPr/>
        <p:txBody>
          <a:bodyPr/>
          <a:lstStyle/>
          <a:p>
            <a:fld id="{B5CEABB6-07DC-46E8-9B57-56EC44A396E5}" type="slidenum">
              <a:rPr lang="en-US" smtClean="0"/>
              <a:pPr/>
              <a:t>12</a:t>
            </a:fld>
            <a:endParaRPr lang="en-US" dirty="0"/>
          </a:p>
        </p:txBody>
      </p:sp>
      <p:sp>
        <p:nvSpPr>
          <p:cNvPr id="5" name="TextBox 4">
            <a:extLst>
              <a:ext uri="{FF2B5EF4-FFF2-40B4-BE49-F238E27FC236}">
                <a16:creationId xmlns:a16="http://schemas.microsoft.com/office/drawing/2014/main" id="{3F638DA6-01EA-679C-5C76-A9A05A95B980}"/>
              </a:ext>
            </a:extLst>
          </p:cNvPr>
          <p:cNvSpPr txBox="1"/>
          <p:nvPr/>
        </p:nvSpPr>
        <p:spPr>
          <a:xfrm>
            <a:off x="1270000" y="436880"/>
            <a:ext cx="4155240" cy="523220"/>
          </a:xfrm>
          <a:prstGeom prst="rect">
            <a:avLst/>
          </a:prstGeom>
          <a:noFill/>
        </p:spPr>
        <p:txBody>
          <a:bodyPr wrap="none" rtlCol="0">
            <a:spAutoFit/>
          </a:bodyPr>
          <a:lstStyle/>
          <a:p>
            <a:r>
              <a:rPr lang="en-IN" sz="2800" u="sng" cap="all" spc="150" dirty="0">
                <a:solidFill>
                  <a:schemeClr val="tx1">
                    <a:lumMod val="75000"/>
                    <a:lumOff val="25000"/>
                  </a:schemeClr>
                </a:solidFill>
                <a:latin typeface="+mj-lt"/>
                <a:ea typeface="+mj-ea"/>
                <a:cs typeface="+mj-cs"/>
              </a:rPr>
              <a:t>MODEL</a:t>
            </a:r>
            <a:r>
              <a:rPr lang="en-IN" sz="2800" u="sng" dirty="0">
                <a:solidFill>
                  <a:srgbClr val="282828"/>
                </a:solidFill>
              </a:rPr>
              <a:t> </a:t>
            </a:r>
            <a:r>
              <a:rPr lang="en-IN" sz="2800" u="sng" cap="all" spc="150" dirty="0">
                <a:solidFill>
                  <a:schemeClr val="tx1">
                    <a:lumMod val="75000"/>
                    <a:lumOff val="25000"/>
                  </a:schemeClr>
                </a:solidFill>
                <a:latin typeface="+mj-lt"/>
                <a:ea typeface="+mj-ea"/>
                <a:cs typeface="+mj-cs"/>
              </a:rPr>
              <a:t>ARCHITECTURE</a:t>
            </a:r>
          </a:p>
        </p:txBody>
      </p:sp>
      <p:sp>
        <p:nvSpPr>
          <p:cNvPr id="6" name="Rectangle: Rounded Corners 5">
            <a:extLst>
              <a:ext uri="{FF2B5EF4-FFF2-40B4-BE49-F238E27FC236}">
                <a16:creationId xmlns:a16="http://schemas.microsoft.com/office/drawing/2014/main" id="{1359362F-2342-8E2D-9ED7-103CA67F19DC}"/>
              </a:ext>
            </a:extLst>
          </p:cNvPr>
          <p:cNvSpPr/>
          <p:nvPr/>
        </p:nvSpPr>
        <p:spPr>
          <a:xfrm>
            <a:off x="1869440" y="1500570"/>
            <a:ext cx="8453120" cy="523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282828"/>
                </a:solidFill>
              </a:rPr>
              <a:t>Input Text → Preprocessing (Tokenization)</a:t>
            </a:r>
          </a:p>
        </p:txBody>
      </p:sp>
      <p:sp>
        <p:nvSpPr>
          <p:cNvPr id="7" name="Rectangle: Rounded Corners 6">
            <a:extLst>
              <a:ext uri="{FF2B5EF4-FFF2-40B4-BE49-F238E27FC236}">
                <a16:creationId xmlns:a16="http://schemas.microsoft.com/office/drawing/2014/main" id="{88B89DBB-69E6-187E-BBF3-C4A79BF454DD}"/>
              </a:ext>
            </a:extLst>
          </p:cNvPr>
          <p:cNvSpPr/>
          <p:nvPr/>
        </p:nvSpPr>
        <p:spPr>
          <a:xfrm>
            <a:off x="1869440" y="2635545"/>
            <a:ext cx="8453120" cy="523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282828"/>
                </a:solidFill>
              </a:rPr>
              <a:t>→ Encoder (4 layers, 8-head Transformer)</a:t>
            </a:r>
          </a:p>
          <a:p>
            <a:pPr algn="ctr"/>
            <a:endParaRPr lang="en-IN" dirty="0"/>
          </a:p>
        </p:txBody>
      </p:sp>
      <p:sp>
        <p:nvSpPr>
          <p:cNvPr id="8" name="Rectangle: Rounded Corners 7">
            <a:extLst>
              <a:ext uri="{FF2B5EF4-FFF2-40B4-BE49-F238E27FC236}">
                <a16:creationId xmlns:a16="http://schemas.microsoft.com/office/drawing/2014/main" id="{64BDC43E-CF6F-FC2E-C677-B658AA147261}"/>
              </a:ext>
            </a:extLst>
          </p:cNvPr>
          <p:cNvSpPr/>
          <p:nvPr/>
        </p:nvSpPr>
        <p:spPr>
          <a:xfrm>
            <a:off x="1869440" y="3666850"/>
            <a:ext cx="8453120" cy="523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282828"/>
                </a:solidFill>
              </a:rPr>
              <a:t>→ Decoder (4 layers, 8-head Transformer)</a:t>
            </a:r>
          </a:p>
          <a:p>
            <a:pPr algn="ctr"/>
            <a:endParaRPr lang="en-IN" dirty="0"/>
          </a:p>
        </p:txBody>
      </p:sp>
      <p:sp>
        <p:nvSpPr>
          <p:cNvPr id="12" name="Rectangle: Rounded Corners 11">
            <a:extLst>
              <a:ext uri="{FF2B5EF4-FFF2-40B4-BE49-F238E27FC236}">
                <a16:creationId xmlns:a16="http://schemas.microsoft.com/office/drawing/2014/main" id="{CD417B1E-FDB4-36B3-01C0-8499A40CDA16}"/>
              </a:ext>
            </a:extLst>
          </p:cNvPr>
          <p:cNvSpPr/>
          <p:nvPr/>
        </p:nvSpPr>
        <p:spPr>
          <a:xfrm>
            <a:off x="1869440" y="4749990"/>
            <a:ext cx="8453120" cy="523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Linear + </a:t>
            </a:r>
            <a:r>
              <a:rPr lang="en-IN" dirty="0" err="1">
                <a:solidFill>
                  <a:schemeClr val="tx1"/>
                </a:solidFill>
              </a:rPr>
              <a:t>Softmax</a:t>
            </a:r>
            <a:r>
              <a:rPr lang="en-IN" dirty="0">
                <a:solidFill>
                  <a:schemeClr val="tx1"/>
                </a:solidFill>
              </a:rPr>
              <a:t> → Detokenization → Output Translation</a:t>
            </a:r>
            <a:endParaRPr lang="en-IN" dirty="0">
              <a:solidFill>
                <a:schemeClr val="tx1"/>
              </a:solidFill>
              <a:effectLst/>
            </a:endParaRPr>
          </a:p>
        </p:txBody>
      </p:sp>
      <p:cxnSp>
        <p:nvCxnSpPr>
          <p:cNvPr id="13" name="Straight Arrow Connector 12">
            <a:extLst>
              <a:ext uri="{FF2B5EF4-FFF2-40B4-BE49-F238E27FC236}">
                <a16:creationId xmlns:a16="http://schemas.microsoft.com/office/drawing/2014/main" id="{FD2CC0DC-B40E-64F5-0459-D265B55F6495}"/>
              </a:ext>
            </a:extLst>
          </p:cNvPr>
          <p:cNvCxnSpPr>
            <a:stCxn id="6" idx="2"/>
            <a:endCxn id="7" idx="0"/>
          </p:cNvCxnSpPr>
          <p:nvPr/>
        </p:nvCxnSpPr>
        <p:spPr>
          <a:xfrm>
            <a:off x="6096000" y="2023790"/>
            <a:ext cx="0" cy="6117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D25899A-D0CF-970B-097C-7145C12FB855}"/>
              </a:ext>
            </a:extLst>
          </p:cNvPr>
          <p:cNvCxnSpPr>
            <a:stCxn id="7" idx="2"/>
            <a:endCxn id="8" idx="0"/>
          </p:cNvCxnSpPr>
          <p:nvPr/>
        </p:nvCxnSpPr>
        <p:spPr>
          <a:xfrm>
            <a:off x="6096000" y="3158765"/>
            <a:ext cx="0" cy="5080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87BB813-4917-7752-1D65-EB14A012BD86}"/>
              </a:ext>
            </a:extLst>
          </p:cNvPr>
          <p:cNvCxnSpPr>
            <a:stCxn id="8" idx="2"/>
            <a:endCxn id="12" idx="0"/>
          </p:cNvCxnSpPr>
          <p:nvPr/>
        </p:nvCxnSpPr>
        <p:spPr>
          <a:xfrm>
            <a:off x="6096000" y="4190070"/>
            <a:ext cx="0" cy="559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348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BD448-55D4-2B9D-C5DC-FA9F98FE9A80}"/>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0E9DFD3F-F283-9888-4D46-3669FAC84FBB}"/>
              </a:ext>
            </a:extLst>
          </p:cNvPr>
          <p:cNvSpPr>
            <a:spLocks noGrp="1"/>
          </p:cNvSpPr>
          <p:nvPr>
            <p:ph type="sldNum" sz="quarter" idx="12"/>
          </p:nvPr>
        </p:nvSpPr>
        <p:spPr/>
        <p:txBody>
          <a:bodyPr/>
          <a:lstStyle/>
          <a:p>
            <a:fld id="{B5CEABB6-07DC-46E8-9B57-56EC44A396E5}" type="slidenum">
              <a:rPr lang="en-US" smtClean="0"/>
              <a:pPr/>
              <a:t>13</a:t>
            </a:fld>
            <a:endParaRPr lang="en-US" dirty="0"/>
          </a:p>
        </p:txBody>
      </p:sp>
      <p:sp>
        <p:nvSpPr>
          <p:cNvPr id="2" name="TextBox 1">
            <a:extLst>
              <a:ext uri="{FF2B5EF4-FFF2-40B4-BE49-F238E27FC236}">
                <a16:creationId xmlns:a16="http://schemas.microsoft.com/office/drawing/2014/main" id="{B72CB73F-427D-366B-9D41-1E2E00D26478}"/>
              </a:ext>
            </a:extLst>
          </p:cNvPr>
          <p:cNvSpPr txBox="1"/>
          <p:nvPr/>
        </p:nvSpPr>
        <p:spPr>
          <a:xfrm>
            <a:off x="1746376" y="590420"/>
            <a:ext cx="7137742" cy="523220"/>
          </a:xfrm>
          <a:prstGeom prst="rect">
            <a:avLst/>
          </a:prstGeom>
          <a:noFill/>
        </p:spPr>
        <p:txBody>
          <a:bodyPr wrap="square" rtlCol="0">
            <a:spAutoFit/>
          </a:bodyPr>
          <a:lstStyle/>
          <a:p>
            <a:r>
              <a:rPr lang="en-IN" sz="2800" u="sng" cap="all" spc="150" dirty="0">
                <a:solidFill>
                  <a:schemeClr val="tx1">
                    <a:lumMod val="75000"/>
                    <a:lumOff val="25000"/>
                  </a:schemeClr>
                </a:solidFill>
                <a:latin typeface="+mj-lt"/>
                <a:ea typeface="+mj-ea"/>
                <a:cs typeface="+mj-cs"/>
              </a:rPr>
              <a:t>MODEL</a:t>
            </a:r>
            <a:r>
              <a:rPr lang="en-IN" sz="2800" u="sng" dirty="0">
                <a:solidFill>
                  <a:srgbClr val="282828"/>
                </a:solidFill>
              </a:rPr>
              <a:t> </a:t>
            </a:r>
            <a:r>
              <a:rPr lang="en-IN" sz="2800" u="sng" cap="all" spc="150" dirty="0">
                <a:solidFill>
                  <a:schemeClr val="tx1">
                    <a:lumMod val="75000"/>
                    <a:lumOff val="25000"/>
                  </a:schemeClr>
                </a:solidFill>
                <a:latin typeface="+mj-lt"/>
                <a:ea typeface="+mj-ea"/>
                <a:cs typeface="+mj-cs"/>
              </a:rPr>
              <a:t>LOADING</a:t>
            </a:r>
            <a:r>
              <a:rPr lang="en-IN" sz="2800" u="sng" dirty="0">
                <a:solidFill>
                  <a:srgbClr val="282828"/>
                </a:solidFill>
              </a:rPr>
              <a:t> </a:t>
            </a:r>
            <a:r>
              <a:rPr lang="en-IN" sz="2800" u="sng" cap="all" spc="150" dirty="0">
                <a:solidFill>
                  <a:schemeClr val="tx1">
                    <a:lumMod val="75000"/>
                    <a:lumOff val="25000"/>
                  </a:schemeClr>
                </a:solidFill>
                <a:latin typeface="+mj-lt"/>
                <a:ea typeface="+mj-ea"/>
                <a:cs typeface="+mj-cs"/>
              </a:rPr>
              <a:t>AND</a:t>
            </a:r>
            <a:r>
              <a:rPr lang="en-IN" sz="2800" u="sng" dirty="0">
                <a:solidFill>
                  <a:srgbClr val="282828"/>
                </a:solidFill>
              </a:rPr>
              <a:t> </a:t>
            </a:r>
            <a:r>
              <a:rPr lang="en-IN" sz="2800" u="sng" cap="all" spc="150" dirty="0">
                <a:solidFill>
                  <a:schemeClr val="tx1">
                    <a:lumMod val="75000"/>
                    <a:lumOff val="25000"/>
                  </a:schemeClr>
                </a:solidFill>
                <a:latin typeface="+mj-lt"/>
                <a:ea typeface="+mj-ea"/>
                <a:cs typeface="+mj-cs"/>
              </a:rPr>
              <a:t>TRAINING</a:t>
            </a:r>
          </a:p>
        </p:txBody>
      </p:sp>
      <p:graphicFrame>
        <p:nvGraphicFramePr>
          <p:cNvPr id="8" name="Diagram 7">
            <a:extLst>
              <a:ext uri="{FF2B5EF4-FFF2-40B4-BE49-F238E27FC236}">
                <a16:creationId xmlns:a16="http://schemas.microsoft.com/office/drawing/2014/main" id="{D72DF6F7-8145-DCE3-D777-3E921638E8AC}"/>
              </a:ext>
            </a:extLst>
          </p:cNvPr>
          <p:cNvGraphicFramePr/>
          <p:nvPr>
            <p:extLst>
              <p:ext uri="{D42A27DB-BD31-4B8C-83A1-F6EECF244321}">
                <p14:modId xmlns:p14="http://schemas.microsoft.com/office/powerpoint/2010/main" val="67791488"/>
              </p:ext>
            </p:extLst>
          </p:nvPr>
        </p:nvGraphicFramePr>
        <p:xfrm>
          <a:off x="1746376" y="1361440"/>
          <a:ext cx="8128000" cy="4807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332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3735" y="507879"/>
            <a:ext cx="5431971" cy="846301"/>
          </a:xfrm>
        </p:spPr>
        <p:txBody>
          <a:bodyPr/>
          <a:lstStyle/>
          <a:p>
            <a:r>
              <a:rPr>
                <a:solidFill>
                  <a:srgbClr val="282828"/>
                </a:solidFill>
              </a:rPr>
              <a:t>Save model</a:t>
            </a:r>
            <a:endParaRPr lang="en-US" dirty="0"/>
          </a:p>
        </p:txBody>
      </p:sp>
      <p:sp>
        <p:nvSpPr>
          <p:cNvPr id="11" name="Slide Number Placeholder 10"/>
          <p:cNvSpPr>
            <a:spLocks noGrp="1"/>
          </p:cNvSpPr>
          <p:nvPr>
            <p:ph type="sldNum" sz="quarter" idx="12"/>
          </p:nvPr>
        </p:nvSpPr>
        <p:spPr/>
        <p:txBody>
          <a:bodyPr/>
          <a:lstStyle/>
          <a:p>
            <a:fld id="{B5CEABB6-07DC-46E8-9B57-56EC44A396E5}" type="slidenum">
              <a:rPr lang="en-US" smtClean="0"/>
              <a:pPr/>
              <a:t>14</a:t>
            </a:fld>
            <a:endParaRPr lang="en-US" dirty="0"/>
          </a:p>
        </p:txBody>
      </p:sp>
      <p:pic>
        <p:nvPicPr>
          <p:cNvPr id="3074" name="Picture 2"/>
          <p:cNvPicPr>
            <a:picLocks noChangeAspect="1" noChangeArrowheads="1"/>
          </p:cNvPicPr>
          <p:nvPr/>
        </p:nvPicPr>
        <p:blipFill>
          <a:blip r:embed="rId2"/>
          <a:srcRect/>
          <a:stretch>
            <a:fillRect/>
          </a:stretch>
        </p:blipFill>
        <p:spPr bwMode="auto">
          <a:xfrm>
            <a:off x="676125" y="1118487"/>
            <a:ext cx="8067675" cy="828675"/>
          </a:xfrm>
          <a:prstGeom prst="rect">
            <a:avLst/>
          </a:prstGeom>
          <a:noFill/>
          <a:ln w="9525">
            <a:noFill/>
            <a:miter lim="800000"/>
            <a:headEnd/>
            <a:tailEnd/>
          </a:ln>
          <a:effectLst/>
        </p:spPr>
      </p:pic>
      <p:sp>
        <p:nvSpPr>
          <p:cNvPr id="14" name="TextBox 13"/>
          <p:cNvSpPr txBox="1"/>
          <p:nvPr/>
        </p:nvSpPr>
        <p:spPr>
          <a:xfrm>
            <a:off x="3830854" y="2560320"/>
            <a:ext cx="2974207" cy="523220"/>
          </a:xfrm>
          <a:prstGeom prst="rect">
            <a:avLst/>
          </a:prstGeom>
          <a:noFill/>
        </p:spPr>
        <p:txBody>
          <a:bodyPr wrap="square" rtlCol="0">
            <a:spAutoFit/>
          </a:bodyPr>
          <a:lstStyle/>
          <a:p>
            <a:r>
              <a:rPr lang="en-IN" sz="2800" cap="all" spc="150" dirty="0">
                <a:solidFill>
                  <a:srgbClr val="282828"/>
                </a:solidFill>
                <a:latin typeface="+mj-lt"/>
                <a:ea typeface="+mj-ea"/>
                <a:cs typeface="+mj-cs"/>
              </a:rPr>
              <a:t>TESTING</a:t>
            </a:r>
            <a:endParaRPr lang="en-US" sz="2800" cap="all" spc="150" dirty="0">
              <a:solidFill>
                <a:srgbClr val="282828"/>
              </a:solidFill>
              <a:latin typeface="+mj-lt"/>
              <a:ea typeface="+mj-ea"/>
              <a:cs typeface="+mj-cs"/>
            </a:endParaRPr>
          </a:p>
        </p:txBody>
      </p:sp>
      <p:pic>
        <p:nvPicPr>
          <p:cNvPr id="3075" name="Picture 3"/>
          <p:cNvPicPr>
            <a:picLocks noChangeAspect="1" noChangeArrowheads="1"/>
          </p:cNvPicPr>
          <p:nvPr/>
        </p:nvPicPr>
        <p:blipFill>
          <a:blip r:embed="rId3"/>
          <a:srcRect/>
          <a:stretch>
            <a:fillRect/>
          </a:stretch>
        </p:blipFill>
        <p:spPr bwMode="auto">
          <a:xfrm>
            <a:off x="759444" y="3389446"/>
            <a:ext cx="7439025" cy="25431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B5CEABB6-07DC-46E8-9B57-56EC44A396E5}" type="slidenum">
              <a:rPr lang="en-US" smtClean="0"/>
              <a:pPr/>
              <a:t>15</a:t>
            </a:fld>
            <a:endParaRPr lang="en-US" dirty="0"/>
          </a:p>
        </p:txBody>
      </p:sp>
      <p:pic>
        <p:nvPicPr>
          <p:cNvPr id="2051" name="Picture 3"/>
          <p:cNvPicPr>
            <a:picLocks noChangeAspect="1" noChangeArrowheads="1"/>
          </p:cNvPicPr>
          <p:nvPr/>
        </p:nvPicPr>
        <p:blipFill>
          <a:blip r:embed="rId2"/>
          <a:srcRect/>
          <a:stretch>
            <a:fillRect/>
          </a:stretch>
        </p:blipFill>
        <p:spPr bwMode="auto">
          <a:xfrm>
            <a:off x="0" y="0"/>
            <a:ext cx="12192000" cy="68580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38A62-9D9E-4C0A-8B45-30FF4D5B09BE}"/>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232A7318-198B-7FBF-461F-CE3BA11CD7FE}"/>
              </a:ext>
            </a:extLst>
          </p:cNvPr>
          <p:cNvSpPr>
            <a:spLocks noGrp="1"/>
          </p:cNvSpPr>
          <p:nvPr>
            <p:ph type="sldNum" sz="quarter" idx="12"/>
          </p:nvPr>
        </p:nvSpPr>
        <p:spPr>
          <a:xfrm>
            <a:off x="8641080" y="6366510"/>
            <a:ext cx="2743200" cy="365125"/>
          </a:xfrm>
        </p:spPr>
        <p:txBody>
          <a:bodyPr/>
          <a:lstStyle/>
          <a:p>
            <a:fld id="{B5CEABB6-07DC-46E8-9B57-56EC44A396E5}" type="slidenum">
              <a:rPr lang="en-US" smtClean="0"/>
              <a:pPr/>
              <a:t>16</a:t>
            </a:fld>
            <a:endParaRPr lang="en-US" dirty="0"/>
          </a:p>
        </p:txBody>
      </p:sp>
      <p:sp>
        <p:nvSpPr>
          <p:cNvPr id="2" name="TextBox 1">
            <a:extLst>
              <a:ext uri="{FF2B5EF4-FFF2-40B4-BE49-F238E27FC236}">
                <a16:creationId xmlns:a16="http://schemas.microsoft.com/office/drawing/2014/main" id="{EE272D91-02C0-721F-B54B-0C638D36F867}"/>
              </a:ext>
            </a:extLst>
          </p:cNvPr>
          <p:cNvSpPr txBox="1"/>
          <p:nvPr/>
        </p:nvSpPr>
        <p:spPr>
          <a:xfrm>
            <a:off x="2214880" y="497840"/>
            <a:ext cx="4014176" cy="523220"/>
          </a:xfrm>
          <a:prstGeom prst="rect">
            <a:avLst/>
          </a:prstGeom>
          <a:noFill/>
        </p:spPr>
        <p:txBody>
          <a:bodyPr wrap="none" rtlCol="0">
            <a:spAutoFit/>
          </a:bodyPr>
          <a:lstStyle/>
          <a:p>
            <a:r>
              <a:rPr lang="en-US" sz="2800" u="sng" cap="all" spc="150" dirty="0">
                <a:solidFill>
                  <a:schemeClr val="tx1">
                    <a:lumMod val="75000"/>
                    <a:lumOff val="25000"/>
                  </a:schemeClr>
                </a:solidFill>
                <a:latin typeface="+mj-lt"/>
                <a:ea typeface="+mj-ea"/>
                <a:cs typeface="+mj-cs"/>
              </a:rPr>
              <a:t>EVALUATION</a:t>
            </a:r>
            <a:r>
              <a:rPr lang="en-US" sz="2800" u="sng" cap="all" spc="150" dirty="0">
                <a:solidFill>
                  <a:srgbClr val="282828"/>
                </a:solidFill>
                <a:latin typeface="Times New Roman" pitchFamily="18" charset="0"/>
                <a:ea typeface="+mj-ea"/>
                <a:cs typeface="Times New Roman" pitchFamily="18" charset="0"/>
              </a:rPr>
              <a:t> </a:t>
            </a:r>
            <a:r>
              <a:rPr lang="en-US" sz="2800" u="sng" cap="all" spc="150" dirty="0">
                <a:solidFill>
                  <a:schemeClr val="tx1">
                    <a:lumMod val="75000"/>
                    <a:lumOff val="25000"/>
                  </a:schemeClr>
                </a:solidFill>
                <a:latin typeface="+mj-lt"/>
                <a:ea typeface="+mj-ea"/>
                <a:cs typeface="+mj-cs"/>
              </a:rPr>
              <a:t>RESULTS</a:t>
            </a:r>
            <a:r>
              <a:rPr lang="en-US" dirty="0">
                <a:solidFill>
                  <a:srgbClr val="282828"/>
                </a:solidFill>
                <a:latin typeface="Times New Roman" pitchFamily="18" charset="0"/>
                <a:cs typeface="Times New Roman" pitchFamily="18" charset="0"/>
              </a:rPr>
              <a:t> </a:t>
            </a:r>
            <a:endParaRPr lang="en-IN" dirty="0"/>
          </a:p>
        </p:txBody>
      </p:sp>
      <p:sp>
        <p:nvSpPr>
          <p:cNvPr id="3" name="TextBox 2">
            <a:extLst>
              <a:ext uri="{FF2B5EF4-FFF2-40B4-BE49-F238E27FC236}">
                <a16:creationId xmlns:a16="http://schemas.microsoft.com/office/drawing/2014/main" id="{BFBA4789-C27F-7B80-455C-660E3CB71564}"/>
              </a:ext>
            </a:extLst>
          </p:cNvPr>
          <p:cNvSpPr txBox="1"/>
          <p:nvPr/>
        </p:nvSpPr>
        <p:spPr>
          <a:xfrm>
            <a:off x="1579728" y="1168400"/>
            <a:ext cx="8656472" cy="1477328"/>
          </a:xfrm>
          <a:prstGeom prst="rect">
            <a:avLst/>
          </a:prstGeom>
          <a:noFill/>
        </p:spPr>
        <p:txBody>
          <a:bodyPr wrap="none" rtlCol="0">
            <a:spAutoFit/>
          </a:bodyPr>
          <a:lstStyle/>
          <a:p>
            <a:pPr>
              <a:lnSpc>
                <a:spcPct val="150000"/>
              </a:lnSpc>
            </a:pPr>
            <a:r>
              <a:rPr lang="en-IN" dirty="0">
                <a:latin typeface="Times New Roman" pitchFamily="18" charset="0"/>
                <a:cs typeface="Times New Roman" pitchFamily="18" charset="0"/>
              </a:rPr>
              <a:t>English → Telugu (seq2seq model):</a:t>
            </a:r>
          </a:p>
          <a:p>
            <a:pPr>
              <a:lnSpc>
                <a:spcPct val="150000"/>
              </a:lnSpc>
            </a:pPr>
            <a:r>
              <a:rPr lang="en-IN" b="1" dirty="0">
                <a:latin typeface="Times New Roman" pitchFamily="18" charset="0"/>
                <a:cs typeface="Times New Roman" pitchFamily="18" charset="0"/>
              </a:rPr>
              <a:t>Metrics (BLEU (</a:t>
            </a:r>
            <a:r>
              <a:rPr lang="en-IN" b="1" dirty="0"/>
              <a:t>Bilingual Evaluation Understudy</a:t>
            </a:r>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chrF</a:t>
            </a:r>
            <a:r>
              <a:rPr lang="en-IN" b="1" dirty="0">
                <a:latin typeface="Times New Roman" pitchFamily="18" charset="0"/>
                <a:cs typeface="Times New Roman" pitchFamily="18" charset="0"/>
              </a:rPr>
              <a:t>(</a:t>
            </a:r>
            <a:r>
              <a:rPr lang="en-IN" b="1" dirty="0"/>
              <a:t>Character n-gram F-score</a:t>
            </a:r>
            <a:r>
              <a:rPr lang="en-IN" b="1" dirty="0">
                <a:latin typeface="Times New Roman" pitchFamily="18" charset="0"/>
                <a:cs typeface="Times New Roman" pitchFamily="18" charset="0"/>
              </a:rPr>
              <a:t>)):</a:t>
            </a:r>
            <a:endParaRPr lang="en-IN" dirty="0">
              <a:latin typeface="Times New Roman" pitchFamily="18" charset="0"/>
              <a:cs typeface="Times New Roman" pitchFamily="18" charset="0"/>
            </a:endParaRPr>
          </a:p>
          <a:p>
            <a:endParaRPr lang="en-IN" dirty="0"/>
          </a:p>
          <a:p>
            <a:endParaRPr lang="en-IN" dirty="0"/>
          </a:p>
        </p:txBody>
      </p:sp>
      <p:graphicFrame>
        <p:nvGraphicFramePr>
          <p:cNvPr id="4" name="Table 3">
            <a:extLst>
              <a:ext uri="{FF2B5EF4-FFF2-40B4-BE49-F238E27FC236}">
                <a16:creationId xmlns:a16="http://schemas.microsoft.com/office/drawing/2014/main" id="{EF69B548-FF78-BE53-EF54-162BAE5EA346}"/>
              </a:ext>
            </a:extLst>
          </p:cNvPr>
          <p:cNvGraphicFramePr>
            <a:graphicFrameLocks noGrp="1"/>
          </p:cNvGraphicFramePr>
          <p:nvPr>
            <p:extLst>
              <p:ext uri="{D42A27DB-BD31-4B8C-83A1-F6EECF244321}">
                <p14:modId xmlns:p14="http://schemas.microsoft.com/office/powerpoint/2010/main" val="1979446273"/>
              </p:ext>
            </p:extLst>
          </p:nvPr>
        </p:nvGraphicFramePr>
        <p:xfrm>
          <a:off x="2407920" y="2645728"/>
          <a:ext cx="5801361" cy="1925979"/>
        </p:xfrm>
        <a:graphic>
          <a:graphicData uri="http://schemas.openxmlformats.org/drawingml/2006/table">
            <a:tbl>
              <a:tblPr firstRow="1" bandRow="1">
                <a:tableStyleId>{F2DE63D5-997A-4646-A377-4702673A728D}</a:tableStyleId>
              </a:tblPr>
              <a:tblGrid>
                <a:gridCol w="1933787">
                  <a:extLst>
                    <a:ext uri="{9D8B030D-6E8A-4147-A177-3AD203B41FA5}">
                      <a16:colId xmlns:a16="http://schemas.microsoft.com/office/drawing/2014/main" val="1877310130"/>
                    </a:ext>
                  </a:extLst>
                </a:gridCol>
                <a:gridCol w="1933787">
                  <a:extLst>
                    <a:ext uri="{9D8B030D-6E8A-4147-A177-3AD203B41FA5}">
                      <a16:colId xmlns:a16="http://schemas.microsoft.com/office/drawing/2014/main" val="2534398513"/>
                    </a:ext>
                  </a:extLst>
                </a:gridCol>
                <a:gridCol w="1933787">
                  <a:extLst>
                    <a:ext uri="{9D8B030D-6E8A-4147-A177-3AD203B41FA5}">
                      <a16:colId xmlns:a16="http://schemas.microsoft.com/office/drawing/2014/main" val="3910947120"/>
                    </a:ext>
                  </a:extLst>
                </a:gridCol>
              </a:tblGrid>
              <a:tr h="641993">
                <a:tc>
                  <a:txBody>
                    <a:bodyPr/>
                    <a:lstStyle/>
                    <a:p>
                      <a:pPr algn="ctr"/>
                      <a:r>
                        <a:rPr lang="en-IN" b="0" dirty="0">
                          <a:ln>
                            <a:solidFill>
                              <a:schemeClr val="tx1">
                                <a:lumMod val="85000"/>
                                <a:lumOff val="15000"/>
                              </a:schemeClr>
                            </a:solidFill>
                          </a:ln>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Trained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New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2445623"/>
                  </a:ext>
                </a:extLst>
              </a:tr>
              <a:tr h="641993">
                <a:tc>
                  <a:txBody>
                    <a:bodyPr/>
                    <a:lstStyle/>
                    <a:p>
                      <a:pPr algn="ctr"/>
                      <a:r>
                        <a:rPr lang="en-IN" b="0" dirty="0">
                          <a:ln>
                            <a:solidFill>
                              <a:schemeClr val="tx1">
                                <a:lumMod val="85000"/>
                                <a:lumOff val="15000"/>
                              </a:schemeClr>
                            </a:solidFill>
                          </a:ln>
                          <a:solidFill>
                            <a:schemeClr val="tx1"/>
                          </a:solidFill>
                        </a:rPr>
                        <a:t>BLEU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22.21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6115436"/>
                  </a:ext>
                </a:extLst>
              </a:tr>
              <a:tr h="641993">
                <a:tc>
                  <a:txBody>
                    <a:bodyPr/>
                    <a:lstStyle/>
                    <a:p>
                      <a:pPr algn="ctr"/>
                      <a:r>
                        <a:rPr lang="en-IN" b="0" dirty="0">
                          <a:ln>
                            <a:solidFill>
                              <a:schemeClr val="tx1">
                                <a:lumMod val="85000"/>
                                <a:lumOff val="15000"/>
                              </a:schemeClr>
                            </a:solidFill>
                          </a:ln>
                          <a:solidFill>
                            <a:schemeClr val="tx1"/>
                          </a:solidFill>
                        </a:rPr>
                        <a:t>CHRF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55.22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4065652"/>
                  </a:ext>
                </a:extLst>
              </a:tr>
            </a:tbl>
          </a:graphicData>
        </a:graphic>
      </p:graphicFrame>
    </p:spTree>
    <p:extLst>
      <p:ext uri="{BB962C8B-B14F-4D97-AF65-F5344CB8AC3E}">
        <p14:creationId xmlns:p14="http://schemas.microsoft.com/office/powerpoint/2010/main" val="1884055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79F26-6A6C-77F7-414E-AA73C105C7CC}"/>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E9F1A136-954C-8044-61F5-09E3717316AA}"/>
              </a:ext>
            </a:extLst>
          </p:cNvPr>
          <p:cNvSpPr>
            <a:spLocks noGrp="1"/>
          </p:cNvSpPr>
          <p:nvPr>
            <p:ph type="sldNum" sz="quarter" idx="12"/>
          </p:nvPr>
        </p:nvSpPr>
        <p:spPr>
          <a:xfrm>
            <a:off x="8641080" y="6366510"/>
            <a:ext cx="2743200" cy="365125"/>
          </a:xfrm>
        </p:spPr>
        <p:txBody>
          <a:bodyPr/>
          <a:lstStyle/>
          <a:p>
            <a:fld id="{B5CEABB6-07DC-46E8-9B57-56EC44A396E5}" type="slidenum">
              <a:rPr lang="en-US" smtClean="0"/>
              <a:pPr/>
              <a:t>17</a:t>
            </a:fld>
            <a:endParaRPr lang="en-US" dirty="0"/>
          </a:p>
        </p:txBody>
      </p:sp>
      <p:sp>
        <p:nvSpPr>
          <p:cNvPr id="2" name="TextBox 1">
            <a:extLst>
              <a:ext uri="{FF2B5EF4-FFF2-40B4-BE49-F238E27FC236}">
                <a16:creationId xmlns:a16="http://schemas.microsoft.com/office/drawing/2014/main" id="{897D5B5D-AB57-3E45-7021-042E2E8C2C90}"/>
              </a:ext>
            </a:extLst>
          </p:cNvPr>
          <p:cNvSpPr txBox="1"/>
          <p:nvPr/>
        </p:nvSpPr>
        <p:spPr>
          <a:xfrm>
            <a:off x="2214880" y="497840"/>
            <a:ext cx="4014176" cy="523220"/>
          </a:xfrm>
          <a:prstGeom prst="rect">
            <a:avLst/>
          </a:prstGeom>
          <a:noFill/>
        </p:spPr>
        <p:txBody>
          <a:bodyPr wrap="none" rtlCol="0">
            <a:spAutoFit/>
          </a:bodyPr>
          <a:lstStyle/>
          <a:p>
            <a:r>
              <a:rPr lang="en-US" sz="2800" u="sng" cap="all" spc="150" dirty="0">
                <a:solidFill>
                  <a:schemeClr val="tx1">
                    <a:lumMod val="75000"/>
                    <a:lumOff val="25000"/>
                  </a:schemeClr>
                </a:solidFill>
                <a:latin typeface="+mj-lt"/>
                <a:ea typeface="+mj-ea"/>
                <a:cs typeface="+mj-cs"/>
              </a:rPr>
              <a:t>EVALUATION</a:t>
            </a:r>
            <a:r>
              <a:rPr lang="en-US" sz="2800" u="sng" cap="all" spc="150" dirty="0">
                <a:solidFill>
                  <a:srgbClr val="282828"/>
                </a:solidFill>
                <a:latin typeface="Times New Roman" pitchFamily="18" charset="0"/>
                <a:ea typeface="+mj-ea"/>
                <a:cs typeface="Times New Roman" pitchFamily="18" charset="0"/>
              </a:rPr>
              <a:t> </a:t>
            </a:r>
            <a:r>
              <a:rPr lang="en-US" sz="2800" u="sng" cap="all" spc="150" dirty="0">
                <a:solidFill>
                  <a:schemeClr val="tx1">
                    <a:lumMod val="75000"/>
                    <a:lumOff val="25000"/>
                  </a:schemeClr>
                </a:solidFill>
                <a:latin typeface="+mj-lt"/>
                <a:ea typeface="+mj-ea"/>
                <a:cs typeface="+mj-cs"/>
              </a:rPr>
              <a:t>RESULTS</a:t>
            </a:r>
            <a:r>
              <a:rPr lang="en-US" dirty="0">
                <a:solidFill>
                  <a:srgbClr val="282828"/>
                </a:solidFill>
                <a:latin typeface="Times New Roman" pitchFamily="18" charset="0"/>
                <a:cs typeface="Times New Roman" pitchFamily="18" charset="0"/>
              </a:rPr>
              <a:t> </a:t>
            </a:r>
            <a:endParaRPr lang="en-IN" dirty="0"/>
          </a:p>
        </p:txBody>
      </p:sp>
      <p:sp>
        <p:nvSpPr>
          <p:cNvPr id="3" name="TextBox 2">
            <a:extLst>
              <a:ext uri="{FF2B5EF4-FFF2-40B4-BE49-F238E27FC236}">
                <a16:creationId xmlns:a16="http://schemas.microsoft.com/office/drawing/2014/main" id="{7BBD4FFD-7DB6-1E95-9915-CBDD4E0069F6}"/>
              </a:ext>
            </a:extLst>
          </p:cNvPr>
          <p:cNvSpPr txBox="1"/>
          <p:nvPr/>
        </p:nvSpPr>
        <p:spPr>
          <a:xfrm>
            <a:off x="1579728" y="1168400"/>
            <a:ext cx="8656472" cy="1477328"/>
          </a:xfrm>
          <a:prstGeom prst="rect">
            <a:avLst/>
          </a:prstGeom>
          <a:noFill/>
        </p:spPr>
        <p:txBody>
          <a:bodyPr wrap="none" rtlCol="0">
            <a:spAutoFit/>
          </a:bodyPr>
          <a:lstStyle/>
          <a:p>
            <a:pPr>
              <a:lnSpc>
                <a:spcPct val="150000"/>
              </a:lnSpc>
            </a:pPr>
            <a:r>
              <a:rPr lang="en-IN" dirty="0">
                <a:latin typeface="Times New Roman" pitchFamily="18" charset="0"/>
                <a:cs typeface="Times New Roman" pitchFamily="18" charset="0"/>
              </a:rPr>
              <a:t>English → Telugu (Transformer(BART) model):</a:t>
            </a:r>
          </a:p>
          <a:p>
            <a:pPr>
              <a:lnSpc>
                <a:spcPct val="150000"/>
              </a:lnSpc>
            </a:pPr>
            <a:r>
              <a:rPr lang="en-IN" b="1" dirty="0">
                <a:latin typeface="Times New Roman" pitchFamily="18" charset="0"/>
                <a:cs typeface="Times New Roman" pitchFamily="18" charset="0"/>
              </a:rPr>
              <a:t>Metrics (BLEU (</a:t>
            </a:r>
            <a:r>
              <a:rPr lang="en-IN" b="1" dirty="0"/>
              <a:t>Bilingual Evaluation Understudy</a:t>
            </a:r>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chrF</a:t>
            </a:r>
            <a:r>
              <a:rPr lang="en-IN" b="1" dirty="0">
                <a:latin typeface="Times New Roman" pitchFamily="18" charset="0"/>
                <a:cs typeface="Times New Roman" pitchFamily="18" charset="0"/>
              </a:rPr>
              <a:t>(</a:t>
            </a:r>
            <a:r>
              <a:rPr lang="en-IN" b="1" dirty="0"/>
              <a:t>Character n-gram F-score</a:t>
            </a:r>
            <a:r>
              <a:rPr lang="en-IN" b="1" dirty="0">
                <a:latin typeface="Times New Roman" pitchFamily="18" charset="0"/>
                <a:cs typeface="Times New Roman" pitchFamily="18" charset="0"/>
              </a:rPr>
              <a:t>)):</a:t>
            </a:r>
            <a:endParaRPr lang="en-IN" dirty="0">
              <a:latin typeface="Times New Roman" pitchFamily="18" charset="0"/>
              <a:cs typeface="Times New Roman" pitchFamily="18" charset="0"/>
            </a:endParaRPr>
          </a:p>
          <a:p>
            <a:endParaRPr lang="en-IN" dirty="0"/>
          </a:p>
          <a:p>
            <a:endParaRPr lang="en-IN" dirty="0"/>
          </a:p>
        </p:txBody>
      </p:sp>
      <p:graphicFrame>
        <p:nvGraphicFramePr>
          <p:cNvPr id="4" name="Table 3">
            <a:extLst>
              <a:ext uri="{FF2B5EF4-FFF2-40B4-BE49-F238E27FC236}">
                <a16:creationId xmlns:a16="http://schemas.microsoft.com/office/drawing/2014/main" id="{CE006F01-04A0-DA8A-9D2D-821F9E5CF056}"/>
              </a:ext>
            </a:extLst>
          </p:cNvPr>
          <p:cNvGraphicFramePr>
            <a:graphicFrameLocks noGrp="1"/>
          </p:cNvGraphicFramePr>
          <p:nvPr>
            <p:extLst>
              <p:ext uri="{D42A27DB-BD31-4B8C-83A1-F6EECF244321}">
                <p14:modId xmlns:p14="http://schemas.microsoft.com/office/powerpoint/2010/main" val="2315441529"/>
              </p:ext>
            </p:extLst>
          </p:nvPr>
        </p:nvGraphicFramePr>
        <p:xfrm>
          <a:off x="2407920" y="2645728"/>
          <a:ext cx="5801361" cy="1925979"/>
        </p:xfrm>
        <a:graphic>
          <a:graphicData uri="http://schemas.openxmlformats.org/drawingml/2006/table">
            <a:tbl>
              <a:tblPr firstRow="1" bandRow="1">
                <a:tableStyleId>{F2DE63D5-997A-4646-A377-4702673A728D}</a:tableStyleId>
              </a:tblPr>
              <a:tblGrid>
                <a:gridCol w="1933787">
                  <a:extLst>
                    <a:ext uri="{9D8B030D-6E8A-4147-A177-3AD203B41FA5}">
                      <a16:colId xmlns:a16="http://schemas.microsoft.com/office/drawing/2014/main" val="1877310130"/>
                    </a:ext>
                  </a:extLst>
                </a:gridCol>
                <a:gridCol w="1933787">
                  <a:extLst>
                    <a:ext uri="{9D8B030D-6E8A-4147-A177-3AD203B41FA5}">
                      <a16:colId xmlns:a16="http://schemas.microsoft.com/office/drawing/2014/main" val="2534398513"/>
                    </a:ext>
                  </a:extLst>
                </a:gridCol>
                <a:gridCol w="1933787">
                  <a:extLst>
                    <a:ext uri="{9D8B030D-6E8A-4147-A177-3AD203B41FA5}">
                      <a16:colId xmlns:a16="http://schemas.microsoft.com/office/drawing/2014/main" val="3910947120"/>
                    </a:ext>
                  </a:extLst>
                </a:gridCol>
              </a:tblGrid>
              <a:tr h="641993">
                <a:tc>
                  <a:txBody>
                    <a:bodyPr/>
                    <a:lstStyle/>
                    <a:p>
                      <a:pPr algn="ctr"/>
                      <a:r>
                        <a:rPr lang="en-IN" b="0" dirty="0">
                          <a:ln>
                            <a:solidFill>
                              <a:schemeClr val="tx1">
                                <a:lumMod val="85000"/>
                                <a:lumOff val="15000"/>
                              </a:schemeClr>
                            </a:solidFill>
                          </a:ln>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Trained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New 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2445623"/>
                  </a:ext>
                </a:extLst>
              </a:tr>
              <a:tr h="641993">
                <a:tc>
                  <a:txBody>
                    <a:bodyPr/>
                    <a:lstStyle/>
                    <a:p>
                      <a:pPr algn="ctr"/>
                      <a:r>
                        <a:rPr lang="en-IN" b="0" dirty="0">
                          <a:ln>
                            <a:solidFill>
                              <a:schemeClr val="tx1">
                                <a:lumMod val="85000"/>
                                <a:lumOff val="15000"/>
                              </a:schemeClr>
                            </a:solidFill>
                          </a:ln>
                          <a:solidFill>
                            <a:schemeClr val="tx1"/>
                          </a:solidFill>
                        </a:rPr>
                        <a:t>BLEU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6115436"/>
                  </a:ext>
                </a:extLst>
              </a:tr>
              <a:tr h="641993">
                <a:tc>
                  <a:txBody>
                    <a:bodyPr/>
                    <a:lstStyle/>
                    <a:p>
                      <a:pPr algn="ctr"/>
                      <a:r>
                        <a:rPr lang="en-IN" b="0" dirty="0">
                          <a:ln>
                            <a:solidFill>
                              <a:schemeClr val="tx1">
                                <a:lumMod val="85000"/>
                                <a:lumOff val="15000"/>
                              </a:schemeClr>
                            </a:solidFill>
                          </a:ln>
                          <a:solidFill>
                            <a:schemeClr val="tx1"/>
                          </a:solidFill>
                        </a:rPr>
                        <a:t>CHRF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12.64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5.72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4065652"/>
                  </a:ext>
                </a:extLst>
              </a:tr>
            </a:tbl>
          </a:graphicData>
        </a:graphic>
      </p:graphicFrame>
    </p:spTree>
    <p:extLst>
      <p:ext uri="{BB962C8B-B14F-4D97-AF65-F5344CB8AC3E}">
        <p14:creationId xmlns:p14="http://schemas.microsoft.com/office/powerpoint/2010/main" val="790048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7822B-F8BB-9B54-F88C-9C4F2360A0A0}"/>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5E3B42C6-56D8-4567-7FED-14720A9F7F81}"/>
              </a:ext>
            </a:extLst>
          </p:cNvPr>
          <p:cNvSpPr>
            <a:spLocks noGrp="1"/>
          </p:cNvSpPr>
          <p:nvPr>
            <p:ph type="sldNum" sz="quarter" idx="12"/>
          </p:nvPr>
        </p:nvSpPr>
        <p:spPr>
          <a:xfrm>
            <a:off x="8641080" y="6366510"/>
            <a:ext cx="2743200" cy="365125"/>
          </a:xfrm>
        </p:spPr>
        <p:txBody>
          <a:bodyPr/>
          <a:lstStyle/>
          <a:p>
            <a:fld id="{B5CEABB6-07DC-46E8-9B57-56EC44A396E5}" type="slidenum">
              <a:rPr lang="en-US" smtClean="0"/>
              <a:pPr/>
              <a:t>18</a:t>
            </a:fld>
            <a:endParaRPr lang="en-US" dirty="0"/>
          </a:p>
        </p:txBody>
      </p:sp>
      <p:sp>
        <p:nvSpPr>
          <p:cNvPr id="2" name="TextBox 1">
            <a:extLst>
              <a:ext uri="{FF2B5EF4-FFF2-40B4-BE49-F238E27FC236}">
                <a16:creationId xmlns:a16="http://schemas.microsoft.com/office/drawing/2014/main" id="{9CF82906-048F-166D-C667-A438FA9946D8}"/>
              </a:ext>
            </a:extLst>
          </p:cNvPr>
          <p:cNvSpPr txBox="1"/>
          <p:nvPr/>
        </p:nvSpPr>
        <p:spPr>
          <a:xfrm>
            <a:off x="2214880" y="497840"/>
            <a:ext cx="4014176" cy="523220"/>
          </a:xfrm>
          <a:prstGeom prst="rect">
            <a:avLst/>
          </a:prstGeom>
          <a:noFill/>
        </p:spPr>
        <p:txBody>
          <a:bodyPr wrap="none" rtlCol="0">
            <a:spAutoFit/>
          </a:bodyPr>
          <a:lstStyle/>
          <a:p>
            <a:r>
              <a:rPr lang="en-US" sz="2800" u="sng" cap="all" spc="150" dirty="0">
                <a:solidFill>
                  <a:schemeClr val="tx1">
                    <a:lumMod val="75000"/>
                    <a:lumOff val="25000"/>
                  </a:schemeClr>
                </a:solidFill>
                <a:latin typeface="+mj-lt"/>
                <a:ea typeface="+mj-ea"/>
                <a:cs typeface="+mj-cs"/>
              </a:rPr>
              <a:t>EVALUATION</a:t>
            </a:r>
            <a:r>
              <a:rPr lang="en-US" sz="2800" u="sng" cap="all" spc="150" dirty="0">
                <a:solidFill>
                  <a:srgbClr val="282828"/>
                </a:solidFill>
                <a:latin typeface="Times New Roman" pitchFamily="18" charset="0"/>
                <a:ea typeface="+mj-ea"/>
                <a:cs typeface="Times New Roman" pitchFamily="18" charset="0"/>
              </a:rPr>
              <a:t> </a:t>
            </a:r>
            <a:r>
              <a:rPr lang="en-US" sz="2800" u="sng" cap="all" spc="150" dirty="0">
                <a:solidFill>
                  <a:schemeClr val="tx1">
                    <a:lumMod val="75000"/>
                    <a:lumOff val="25000"/>
                  </a:schemeClr>
                </a:solidFill>
                <a:latin typeface="+mj-lt"/>
                <a:ea typeface="+mj-ea"/>
                <a:cs typeface="+mj-cs"/>
              </a:rPr>
              <a:t>RESULTS</a:t>
            </a:r>
            <a:r>
              <a:rPr lang="en-US" dirty="0">
                <a:solidFill>
                  <a:srgbClr val="282828"/>
                </a:solidFill>
                <a:latin typeface="Times New Roman" pitchFamily="18" charset="0"/>
                <a:cs typeface="Times New Roman" pitchFamily="18" charset="0"/>
              </a:rPr>
              <a:t> </a:t>
            </a:r>
            <a:endParaRPr lang="en-IN" dirty="0"/>
          </a:p>
        </p:txBody>
      </p:sp>
      <p:sp>
        <p:nvSpPr>
          <p:cNvPr id="3" name="TextBox 2">
            <a:extLst>
              <a:ext uri="{FF2B5EF4-FFF2-40B4-BE49-F238E27FC236}">
                <a16:creationId xmlns:a16="http://schemas.microsoft.com/office/drawing/2014/main" id="{5FEEE7B9-67FF-3FF6-CAE7-560CE287AEC9}"/>
              </a:ext>
            </a:extLst>
          </p:cNvPr>
          <p:cNvSpPr txBox="1"/>
          <p:nvPr/>
        </p:nvSpPr>
        <p:spPr>
          <a:xfrm>
            <a:off x="1579728" y="1168400"/>
            <a:ext cx="8656472" cy="1477328"/>
          </a:xfrm>
          <a:prstGeom prst="rect">
            <a:avLst/>
          </a:prstGeom>
          <a:noFill/>
        </p:spPr>
        <p:txBody>
          <a:bodyPr wrap="none" rtlCol="0">
            <a:spAutoFit/>
          </a:bodyPr>
          <a:lstStyle/>
          <a:p>
            <a:pPr>
              <a:lnSpc>
                <a:spcPct val="150000"/>
              </a:lnSpc>
            </a:pPr>
            <a:r>
              <a:rPr lang="en-IN" dirty="0">
                <a:latin typeface="Times New Roman" pitchFamily="18" charset="0"/>
                <a:cs typeface="Times New Roman" pitchFamily="18" charset="0"/>
              </a:rPr>
              <a:t>English → Telugu (Transformer model):</a:t>
            </a:r>
          </a:p>
          <a:p>
            <a:pPr>
              <a:lnSpc>
                <a:spcPct val="150000"/>
              </a:lnSpc>
            </a:pPr>
            <a:r>
              <a:rPr lang="en-IN" b="1" dirty="0">
                <a:latin typeface="Times New Roman" pitchFamily="18" charset="0"/>
                <a:cs typeface="Times New Roman" pitchFamily="18" charset="0"/>
              </a:rPr>
              <a:t>Metrics (BLEU (</a:t>
            </a:r>
            <a:r>
              <a:rPr lang="en-IN" b="1" dirty="0"/>
              <a:t>Bilingual Evaluation Understudy</a:t>
            </a:r>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chrF</a:t>
            </a:r>
            <a:r>
              <a:rPr lang="en-IN" b="1" dirty="0">
                <a:latin typeface="Times New Roman" pitchFamily="18" charset="0"/>
                <a:cs typeface="Times New Roman" pitchFamily="18" charset="0"/>
              </a:rPr>
              <a:t>(</a:t>
            </a:r>
            <a:r>
              <a:rPr lang="en-IN" b="1" dirty="0"/>
              <a:t>Character n-gram F-score</a:t>
            </a:r>
            <a:r>
              <a:rPr lang="en-IN" b="1" dirty="0">
                <a:latin typeface="Times New Roman" pitchFamily="18" charset="0"/>
                <a:cs typeface="Times New Roman" pitchFamily="18" charset="0"/>
              </a:rPr>
              <a:t>)):</a:t>
            </a:r>
            <a:endParaRPr lang="en-IN" dirty="0">
              <a:latin typeface="Times New Roman" pitchFamily="18" charset="0"/>
              <a:cs typeface="Times New Roman" pitchFamily="18" charset="0"/>
            </a:endParaRPr>
          </a:p>
          <a:p>
            <a:endParaRPr lang="en-IN" dirty="0"/>
          </a:p>
          <a:p>
            <a:endParaRPr lang="en-IN" dirty="0"/>
          </a:p>
        </p:txBody>
      </p:sp>
      <p:graphicFrame>
        <p:nvGraphicFramePr>
          <p:cNvPr id="4" name="Table 3">
            <a:extLst>
              <a:ext uri="{FF2B5EF4-FFF2-40B4-BE49-F238E27FC236}">
                <a16:creationId xmlns:a16="http://schemas.microsoft.com/office/drawing/2014/main" id="{3DBA531F-B348-E7AE-9848-79BC9ECA2B6C}"/>
              </a:ext>
            </a:extLst>
          </p:cNvPr>
          <p:cNvGraphicFramePr>
            <a:graphicFrameLocks noGrp="1"/>
          </p:cNvGraphicFramePr>
          <p:nvPr>
            <p:extLst>
              <p:ext uri="{D42A27DB-BD31-4B8C-83A1-F6EECF244321}">
                <p14:modId xmlns:p14="http://schemas.microsoft.com/office/powerpoint/2010/main" val="1708795785"/>
              </p:ext>
            </p:extLst>
          </p:nvPr>
        </p:nvGraphicFramePr>
        <p:xfrm>
          <a:off x="3871186" y="3222133"/>
          <a:ext cx="4715739" cy="1283986"/>
        </p:xfrm>
        <a:graphic>
          <a:graphicData uri="http://schemas.openxmlformats.org/drawingml/2006/table">
            <a:tbl>
              <a:tblPr firstRow="1" bandRow="1">
                <a:tableStyleId>{F2DE63D5-997A-4646-A377-4702673A728D}</a:tableStyleId>
              </a:tblPr>
              <a:tblGrid>
                <a:gridCol w="2059806">
                  <a:extLst>
                    <a:ext uri="{9D8B030D-6E8A-4147-A177-3AD203B41FA5}">
                      <a16:colId xmlns:a16="http://schemas.microsoft.com/office/drawing/2014/main" val="1877310130"/>
                    </a:ext>
                  </a:extLst>
                </a:gridCol>
                <a:gridCol w="1245511">
                  <a:extLst>
                    <a:ext uri="{9D8B030D-6E8A-4147-A177-3AD203B41FA5}">
                      <a16:colId xmlns:a16="http://schemas.microsoft.com/office/drawing/2014/main" val="2534398513"/>
                    </a:ext>
                  </a:extLst>
                </a:gridCol>
                <a:gridCol w="1410422">
                  <a:extLst>
                    <a:ext uri="{9D8B030D-6E8A-4147-A177-3AD203B41FA5}">
                      <a16:colId xmlns:a16="http://schemas.microsoft.com/office/drawing/2014/main" val="20002"/>
                    </a:ext>
                  </a:extLst>
                </a:gridCol>
              </a:tblGrid>
              <a:tr h="641993">
                <a:tc>
                  <a:txBody>
                    <a:bodyPr/>
                    <a:lstStyle/>
                    <a:p>
                      <a:pPr algn="ctr"/>
                      <a:r>
                        <a:rPr lang="en-IN" b="0" dirty="0">
                          <a:ln>
                            <a:solidFill>
                              <a:schemeClr val="tx1">
                                <a:lumMod val="85000"/>
                                <a:lumOff val="15000"/>
                              </a:schemeClr>
                            </a:solidFill>
                          </a:ln>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BLEU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CHRF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2445623"/>
                  </a:ext>
                </a:extLst>
              </a:tr>
              <a:tr h="641993">
                <a:tc>
                  <a:txBody>
                    <a:bodyPr/>
                    <a:lstStyle/>
                    <a:p>
                      <a:pPr algn="ctr"/>
                      <a:r>
                        <a:rPr lang="en-IN" b="0" dirty="0">
                          <a:ln>
                            <a:solidFill>
                              <a:schemeClr val="tx1">
                                <a:lumMod val="85000"/>
                                <a:lumOff val="15000"/>
                              </a:schemeClr>
                            </a:solidFill>
                          </a:ln>
                          <a:solidFill>
                            <a:schemeClr val="tx1"/>
                          </a:solidFill>
                        </a:rPr>
                        <a:t>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a:ln>
                            <a:solidFill>
                              <a:schemeClr val="tx1">
                                <a:lumMod val="85000"/>
                                <a:lumOff val="15000"/>
                              </a:schemeClr>
                            </a:solidFill>
                          </a:ln>
                          <a:solidFill>
                            <a:schemeClr val="tx1"/>
                          </a:solidFill>
                        </a:rPr>
                        <a:t>1.59</a:t>
                      </a:r>
                      <a:endParaRPr lang="en-IN" b="0" dirty="0">
                        <a:ln>
                          <a:solidFill>
                            <a:schemeClr val="tx1">
                              <a:lumMod val="85000"/>
                              <a:lumOff val="15000"/>
                            </a:schemeClr>
                          </a:solid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2.91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4065652"/>
                  </a:ext>
                </a:extLst>
              </a:tr>
            </a:tbl>
          </a:graphicData>
        </a:graphic>
      </p:graphicFrame>
    </p:spTree>
    <p:extLst>
      <p:ext uri="{BB962C8B-B14F-4D97-AF65-F5344CB8AC3E}">
        <p14:creationId xmlns:p14="http://schemas.microsoft.com/office/powerpoint/2010/main" val="776279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B184-FB6C-42A9-C715-1B5D53CB38A3}"/>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07427B69-8483-D9DE-D7BF-609D76D870BE}"/>
              </a:ext>
            </a:extLst>
          </p:cNvPr>
          <p:cNvSpPr>
            <a:spLocks noGrp="1"/>
          </p:cNvSpPr>
          <p:nvPr>
            <p:ph type="sldNum" sz="quarter" idx="12"/>
          </p:nvPr>
        </p:nvSpPr>
        <p:spPr>
          <a:xfrm>
            <a:off x="8641080" y="6366510"/>
            <a:ext cx="2743200" cy="365125"/>
          </a:xfrm>
        </p:spPr>
        <p:txBody>
          <a:bodyPr/>
          <a:lstStyle/>
          <a:p>
            <a:fld id="{B5CEABB6-07DC-46E8-9B57-56EC44A396E5}" type="slidenum">
              <a:rPr lang="en-US" smtClean="0"/>
              <a:pPr/>
              <a:t>19</a:t>
            </a:fld>
            <a:endParaRPr lang="en-US" dirty="0"/>
          </a:p>
        </p:txBody>
      </p:sp>
      <p:sp>
        <p:nvSpPr>
          <p:cNvPr id="2" name="TextBox 1">
            <a:extLst>
              <a:ext uri="{FF2B5EF4-FFF2-40B4-BE49-F238E27FC236}">
                <a16:creationId xmlns:a16="http://schemas.microsoft.com/office/drawing/2014/main" id="{A3B69FC3-B6EB-B441-1205-BF6D5DC84AFE}"/>
              </a:ext>
            </a:extLst>
          </p:cNvPr>
          <p:cNvSpPr txBox="1"/>
          <p:nvPr/>
        </p:nvSpPr>
        <p:spPr>
          <a:xfrm>
            <a:off x="2214880" y="497840"/>
            <a:ext cx="3538982" cy="523220"/>
          </a:xfrm>
          <a:prstGeom prst="rect">
            <a:avLst/>
          </a:prstGeom>
          <a:noFill/>
        </p:spPr>
        <p:txBody>
          <a:bodyPr wrap="none" rtlCol="0">
            <a:spAutoFit/>
          </a:bodyPr>
          <a:lstStyle/>
          <a:p>
            <a:r>
              <a:rPr lang="en-US" sz="2800" u="sng" cap="all" spc="150" dirty="0">
                <a:solidFill>
                  <a:schemeClr val="tx1">
                    <a:lumMod val="75000"/>
                    <a:lumOff val="25000"/>
                  </a:schemeClr>
                </a:solidFill>
                <a:latin typeface="+mj-lt"/>
                <a:ea typeface="+mj-ea"/>
                <a:cs typeface="+mj-cs"/>
              </a:rPr>
              <a:t>Cross Validation</a:t>
            </a:r>
            <a:endParaRPr lang="en-IN" dirty="0"/>
          </a:p>
        </p:txBody>
      </p:sp>
      <p:graphicFrame>
        <p:nvGraphicFramePr>
          <p:cNvPr id="4" name="Table 3">
            <a:extLst>
              <a:ext uri="{FF2B5EF4-FFF2-40B4-BE49-F238E27FC236}">
                <a16:creationId xmlns:a16="http://schemas.microsoft.com/office/drawing/2014/main" id="{3D66E0C9-6AE1-309D-F26E-0BEF699048FE}"/>
              </a:ext>
            </a:extLst>
          </p:cNvPr>
          <p:cNvGraphicFramePr>
            <a:graphicFrameLocks noGrp="1"/>
          </p:cNvGraphicFramePr>
          <p:nvPr>
            <p:extLst>
              <p:ext uri="{D42A27DB-BD31-4B8C-83A1-F6EECF244321}">
                <p14:modId xmlns:p14="http://schemas.microsoft.com/office/powerpoint/2010/main" val="522005"/>
              </p:ext>
            </p:extLst>
          </p:nvPr>
        </p:nvGraphicFramePr>
        <p:xfrm>
          <a:off x="1259840" y="2397124"/>
          <a:ext cx="8996682" cy="2598897"/>
        </p:xfrm>
        <a:graphic>
          <a:graphicData uri="http://schemas.openxmlformats.org/drawingml/2006/table">
            <a:tbl>
              <a:tblPr firstRow="1" bandRow="1">
                <a:tableStyleId>{F2DE63D5-997A-4646-A377-4702673A728D}</a:tableStyleId>
              </a:tblPr>
              <a:tblGrid>
                <a:gridCol w="1499447">
                  <a:extLst>
                    <a:ext uri="{9D8B030D-6E8A-4147-A177-3AD203B41FA5}">
                      <a16:colId xmlns:a16="http://schemas.microsoft.com/office/drawing/2014/main" val="1877310130"/>
                    </a:ext>
                  </a:extLst>
                </a:gridCol>
                <a:gridCol w="1499447">
                  <a:extLst>
                    <a:ext uri="{9D8B030D-6E8A-4147-A177-3AD203B41FA5}">
                      <a16:colId xmlns:a16="http://schemas.microsoft.com/office/drawing/2014/main" val="2534398513"/>
                    </a:ext>
                  </a:extLst>
                </a:gridCol>
                <a:gridCol w="1499447">
                  <a:extLst>
                    <a:ext uri="{9D8B030D-6E8A-4147-A177-3AD203B41FA5}">
                      <a16:colId xmlns:a16="http://schemas.microsoft.com/office/drawing/2014/main" val="3910947120"/>
                    </a:ext>
                  </a:extLst>
                </a:gridCol>
                <a:gridCol w="1499447">
                  <a:extLst>
                    <a:ext uri="{9D8B030D-6E8A-4147-A177-3AD203B41FA5}">
                      <a16:colId xmlns:a16="http://schemas.microsoft.com/office/drawing/2014/main" val="2017221835"/>
                    </a:ext>
                  </a:extLst>
                </a:gridCol>
                <a:gridCol w="1499447">
                  <a:extLst>
                    <a:ext uri="{9D8B030D-6E8A-4147-A177-3AD203B41FA5}">
                      <a16:colId xmlns:a16="http://schemas.microsoft.com/office/drawing/2014/main" val="2782223858"/>
                    </a:ext>
                  </a:extLst>
                </a:gridCol>
                <a:gridCol w="1499447">
                  <a:extLst>
                    <a:ext uri="{9D8B030D-6E8A-4147-A177-3AD203B41FA5}">
                      <a16:colId xmlns:a16="http://schemas.microsoft.com/office/drawing/2014/main" val="126969503"/>
                    </a:ext>
                  </a:extLst>
                </a:gridCol>
              </a:tblGrid>
              <a:tr h="866299">
                <a:tc>
                  <a:txBody>
                    <a:bodyPr/>
                    <a:lstStyle/>
                    <a:p>
                      <a:pPr algn="ctr"/>
                      <a:r>
                        <a:rPr lang="en-IN" b="0" dirty="0">
                          <a:ln>
                            <a:solidFill>
                              <a:schemeClr val="tx1">
                                <a:lumMod val="85000"/>
                                <a:lumOff val="15000"/>
                              </a:schemeClr>
                            </a:solidFill>
                          </a:ln>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Fold-1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Fold-2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Fold-3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Fold-4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Fold-5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2445623"/>
                  </a:ext>
                </a:extLst>
              </a:tr>
              <a:tr h="866299">
                <a:tc>
                  <a:txBody>
                    <a:bodyPr/>
                    <a:lstStyle/>
                    <a:p>
                      <a:pPr algn="ctr"/>
                      <a:r>
                        <a:rPr lang="en-IN" b="0" dirty="0">
                          <a:ln>
                            <a:solidFill>
                              <a:schemeClr val="tx1">
                                <a:lumMod val="85000"/>
                                <a:lumOff val="15000"/>
                              </a:schemeClr>
                            </a:solidFill>
                          </a:ln>
                          <a:solidFill>
                            <a:schemeClr val="tx1"/>
                          </a:solidFill>
                        </a:rPr>
                        <a:t>BLEU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63.3697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63.2564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63.1482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63.1887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63.5662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0825134"/>
                  </a:ext>
                </a:extLst>
              </a:tr>
              <a:tr h="866299">
                <a:tc>
                  <a:txBody>
                    <a:bodyPr/>
                    <a:lstStyle/>
                    <a:p>
                      <a:pPr algn="ctr"/>
                      <a:r>
                        <a:rPr lang="en-IN" b="0" dirty="0">
                          <a:ln>
                            <a:solidFill>
                              <a:schemeClr val="tx1">
                                <a:lumMod val="85000"/>
                                <a:lumOff val="15000"/>
                              </a:schemeClr>
                            </a:solidFill>
                          </a:ln>
                          <a:solidFill>
                            <a:schemeClr val="tx1"/>
                          </a:solidFill>
                        </a:rPr>
                        <a:t>CHRF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82.1624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82.1292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82.0905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82.1032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n>
                            <a:solidFill>
                              <a:schemeClr val="tx1">
                                <a:lumMod val="85000"/>
                                <a:lumOff val="15000"/>
                              </a:schemeClr>
                            </a:solidFill>
                          </a:ln>
                          <a:solidFill>
                            <a:schemeClr val="tx1"/>
                          </a:solidFill>
                        </a:rPr>
                        <a:t>82.2937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4065652"/>
                  </a:ext>
                </a:extLst>
              </a:tr>
            </a:tbl>
          </a:graphicData>
        </a:graphic>
      </p:graphicFrame>
      <p:sp>
        <p:nvSpPr>
          <p:cNvPr id="5" name="TextBox 4">
            <a:extLst>
              <a:ext uri="{FF2B5EF4-FFF2-40B4-BE49-F238E27FC236}">
                <a16:creationId xmlns:a16="http://schemas.microsoft.com/office/drawing/2014/main" id="{5398A26D-BE58-A8FE-992D-3DE3F8329890}"/>
              </a:ext>
            </a:extLst>
          </p:cNvPr>
          <p:cNvSpPr txBox="1"/>
          <p:nvPr/>
        </p:nvSpPr>
        <p:spPr>
          <a:xfrm>
            <a:off x="1259840" y="1524426"/>
            <a:ext cx="2522485" cy="369332"/>
          </a:xfrm>
          <a:prstGeom prst="rect">
            <a:avLst/>
          </a:prstGeom>
          <a:noFill/>
        </p:spPr>
        <p:txBody>
          <a:bodyPr wrap="none" rtlCol="0">
            <a:spAutoFit/>
          </a:bodyPr>
          <a:lstStyle/>
          <a:p>
            <a:r>
              <a:rPr lang="en-IN" b="1" dirty="0"/>
              <a:t>5-fold cross validation:</a:t>
            </a:r>
          </a:p>
        </p:txBody>
      </p:sp>
    </p:spTree>
    <p:extLst>
      <p:ext uri="{BB962C8B-B14F-4D97-AF65-F5344CB8AC3E}">
        <p14:creationId xmlns:p14="http://schemas.microsoft.com/office/powerpoint/2010/main" val="962086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EC182-9C26-4142-8C36-ACBC99CCCEC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D4C0C12A-ADE0-0792-A56F-7C065FC1BF27}"/>
              </a:ext>
            </a:extLst>
          </p:cNvPr>
          <p:cNvSpPr>
            <a:spLocks noGrp="1"/>
          </p:cNvSpPr>
          <p:nvPr>
            <p:ph type="sldNum" sz="quarter" idx="12"/>
          </p:nvPr>
        </p:nvSpPr>
        <p:spPr/>
        <p:txBody>
          <a:bodyPr/>
          <a:lstStyle/>
          <a:p>
            <a:fld id="{B5CEABB6-07DC-46E8-9B57-56EC44A396E5}" type="slidenum">
              <a:rPr lang="en-US" smtClean="0">
                <a:solidFill>
                  <a:schemeClr val="tx1"/>
                </a:solidFill>
              </a:rPr>
              <a:pPr/>
              <a:t>20</a:t>
            </a:fld>
            <a:endParaRPr lang="en-US" dirty="0">
              <a:solidFill>
                <a:schemeClr val="tx1"/>
              </a:solidFill>
            </a:endParaRPr>
          </a:p>
        </p:txBody>
      </p:sp>
      <p:sp>
        <p:nvSpPr>
          <p:cNvPr id="2" name="TextBox 1">
            <a:extLst>
              <a:ext uri="{FF2B5EF4-FFF2-40B4-BE49-F238E27FC236}">
                <a16:creationId xmlns:a16="http://schemas.microsoft.com/office/drawing/2014/main" id="{35B1AB87-BF14-70D9-026E-5DE9976F1D29}"/>
              </a:ext>
            </a:extLst>
          </p:cNvPr>
          <p:cNvSpPr txBox="1"/>
          <p:nvPr/>
        </p:nvSpPr>
        <p:spPr>
          <a:xfrm>
            <a:off x="1991360" y="523241"/>
            <a:ext cx="6502400" cy="523220"/>
          </a:xfrm>
          <a:prstGeom prst="rect">
            <a:avLst/>
          </a:prstGeom>
          <a:noFill/>
        </p:spPr>
        <p:txBody>
          <a:bodyPr wrap="square" rtlCol="0">
            <a:spAutoFit/>
          </a:bodyPr>
          <a:lstStyle/>
          <a:p>
            <a:r>
              <a:rPr lang="en-IN" sz="2800" u="sng" cap="all" spc="150" dirty="0">
                <a:solidFill>
                  <a:schemeClr val="tx1">
                    <a:lumMod val="75000"/>
                    <a:lumOff val="25000"/>
                  </a:schemeClr>
                </a:solidFill>
                <a:latin typeface="+mj-lt"/>
                <a:ea typeface="+mj-ea"/>
                <a:cs typeface="+mj-cs"/>
              </a:rPr>
              <a:t>CHALLENGES FACED</a:t>
            </a:r>
          </a:p>
        </p:txBody>
      </p:sp>
      <p:sp>
        <p:nvSpPr>
          <p:cNvPr id="5" name="TextBox 4">
            <a:extLst>
              <a:ext uri="{FF2B5EF4-FFF2-40B4-BE49-F238E27FC236}">
                <a16:creationId xmlns:a16="http://schemas.microsoft.com/office/drawing/2014/main" id="{4748F63F-BC51-FE90-43AF-926C3F971DBE}"/>
              </a:ext>
            </a:extLst>
          </p:cNvPr>
          <p:cNvSpPr txBox="1"/>
          <p:nvPr/>
        </p:nvSpPr>
        <p:spPr>
          <a:xfrm>
            <a:off x="1991360" y="1879600"/>
            <a:ext cx="5757153" cy="1938992"/>
          </a:xfrm>
          <a:prstGeom prst="rect">
            <a:avLst/>
          </a:prstGeom>
          <a:noFill/>
        </p:spPr>
        <p:txBody>
          <a:bodyPr wrap="none" rtlCol="0">
            <a:spAutoFit/>
          </a:bodyPr>
          <a:lstStyle/>
          <a:p>
            <a:pPr>
              <a:lnSpc>
                <a:spcPct val="150000"/>
              </a:lnSpc>
            </a:pPr>
            <a:r>
              <a:rPr lang="en-IN" sz="2000" dirty="0"/>
              <a:t>Dataset quality and availability issues.</a:t>
            </a:r>
          </a:p>
          <a:p>
            <a:pPr>
              <a:lnSpc>
                <a:spcPct val="150000"/>
              </a:lnSpc>
            </a:pPr>
            <a:r>
              <a:rPr lang="en-IN" sz="2000" dirty="0"/>
              <a:t>Computational resource limitations (RAM/GPU).</a:t>
            </a:r>
          </a:p>
          <a:p>
            <a:pPr>
              <a:lnSpc>
                <a:spcPct val="150000"/>
              </a:lnSpc>
            </a:pPr>
            <a:r>
              <a:rPr lang="en-IN" sz="2000" dirty="0"/>
              <a:t>Model </a:t>
            </a:r>
            <a:r>
              <a:rPr lang="en-IN" sz="2000" dirty="0" err="1"/>
              <a:t>underfitting</a:t>
            </a:r>
            <a:r>
              <a:rPr lang="en-IN" sz="2000" dirty="0"/>
              <a:t> or slow convergence.</a:t>
            </a:r>
          </a:p>
          <a:p>
            <a:pPr>
              <a:lnSpc>
                <a:spcPct val="150000"/>
              </a:lnSpc>
            </a:pPr>
            <a:r>
              <a:rPr lang="en-IN" sz="2000" dirty="0"/>
              <a:t>Tokenization/encoding issues for regional scripts.</a:t>
            </a:r>
          </a:p>
        </p:txBody>
      </p:sp>
    </p:spTree>
    <p:extLst>
      <p:ext uri="{BB962C8B-B14F-4D97-AF65-F5344CB8AC3E}">
        <p14:creationId xmlns:p14="http://schemas.microsoft.com/office/powerpoint/2010/main" val="126783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ACD7CD-06DA-B296-6138-7991FABF48A0}"/>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52A2E8DC-4B6F-0D66-9C9E-179B76D98041}"/>
              </a:ext>
            </a:extLst>
          </p:cNvPr>
          <p:cNvSpPr>
            <a:spLocks noGrp="1"/>
          </p:cNvSpPr>
          <p:nvPr>
            <p:ph type="sldNum" sz="quarter" idx="12"/>
          </p:nvPr>
        </p:nvSpPr>
        <p:spPr/>
        <p:txBody>
          <a:bodyPr/>
          <a:lstStyle/>
          <a:p>
            <a:fld id="{B5CEABB6-07DC-46E8-9B57-56EC44A396E5}" type="slidenum">
              <a:rPr lang="en-US" smtClean="0">
                <a:solidFill>
                  <a:schemeClr val="tx1"/>
                </a:solidFill>
              </a:rPr>
              <a:pPr/>
              <a:t>21</a:t>
            </a:fld>
            <a:endParaRPr lang="en-US" dirty="0">
              <a:solidFill>
                <a:schemeClr val="tx1"/>
              </a:solidFill>
            </a:endParaRPr>
          </a:p>
        </p:txBody>
      </p:sp>
      <p:sp>
        <p:nvSpPr>
          <p:cNvPr id="2" name="TextBox 1">
            <a:extLst>
              <a:ext uri="{FF2B5EF4-FFF2-40B4-BE49-F238E27FC236}">
                <a16:creationId xmlns:a16="http://schemas.microsoft.com/office/drawing/2014/main" id="{9EC729CD-CE91-0CA1-AED2-20FCF5B4BD7B}"/>
              </a:ext>
            </a:extLst>
          </p:cNvPr>
          <p:cNvSpPr txBox="1"/>
          <p:nvPr/>
        </p:nvSpPr>
        <p:spPr>
          <a:xfrm>
            <a:off x="3952240" y="1092201"/>
            <a:ext cx="6502400" cy="523220"/>
          </a:xfrm>
          <a:prstGeom prst="rect">
            <a:avLst/>
          </a:prstGeom>
          <a:noFill/>
        </p:spPr>
        <p:txBody>
          <a:bodyPr wrap="square" rtlCol="0">
            <a:spAutoFit/>
          </a:bodyPr>
          <a:lstStyle/>
          <a:p>
            <a:r>
              <a:rPr lang="en-IN" sz="2800" u="sng" cap="all" spc="150" dirty="0">
                <a:solidFill>
                  <a:schemeClr val="tx1">
                    <a:lumMod val="75000"/>
                    <a:lumOff val="25000"/>
                  </a:schemeClr>
                </a:solidFill>
                <a:latin typeface="+mj-lt"/>
                <a:ea typeface="+mj-ea"/>
                <a:cs typeface="+mj-cs"/>
              </a:rPr>
              <a:t>Tools used</a:t>
            </a:r>
          </a:p>
        </p:txBody>
      </p:sp>
      <p:sp>
        <p:nvSpPr>
          <p:cNvPr id="5" name="TextBox 4">
            <a:extLst>
              <a:ext uri="{FF2B5EF4-FFF2-40B4-BE49-F238E27FC236}">
                <a16:creationId xmlns:a16="http://schemas.microsoft.com/office/drawing/2014/main" id="{33C2B95B-EBAF-8D17-9B0E-4AAF83ADC0D9}"/>
              </a:ext>
            </a:extLst>
          </p:cNvPr>
          <p:cNvSpPr txBox="1"/>
          <p:nvPr/>
        </p:nvSpPr>
        <p:spPr>
          <a:xfrm>
            <a:off x="5242560" y="1910080"/>
            <a:ext cx="2080057" cy="3353867"/>
          </a:xfrm>
          <a:prstGeom prst="rect">
            <a:avLst/>
          </a:prstGeom>
          <a:noFill/>
        </p:spPr>
        <p:txBody>
          <a:bodyPr wrap="none" rtlCol="0">
            <a:spAutoFit/>
          </a:bodyPr>
          <a:lstStyle/>
          <a:p>
            <a:pPr>
              <a:lnSpc>
                <a:spcPct val="150000"/>
              </a:lnSpc>
            </a:pPr>
            <a:r>
              <a:rPr lang="en-IN" sz="2400" dirty="0" err="1"/>
              <a:t>Sacrebleu</a:t>
            </a:r>
            <a:endParaRPr lang="en-IN" sz="2400" dirty="0"/>
          </a:p>
          <a:p>
            <a:pPr>
              <a:lnSpc>
                <a:spcPct val="150000"/>
              </a:lnSpc>
            </a:pPr>
            <a:r>
              <a:rPr lang="en-IN" sz="2400" dirty="0" err="1"/>
              <a:t>Tensorflow</a:t>
            </a:r>
            <a:endParaRPr lang="en-IN" sz="2400" dirty="0"/>
          </a:p>
          <a:p>
            <a:pPr>
              <a:lnSpc>
                <a:spcPct val="150000"/>
              </a:lnSpc>
            </a:pPr>
            <a:r>
              <a:rPr lang="en-IN" sz="2400" dirty="0"/>
              <a:t>Tokenizer</a:t>
            </a:r>
          </a:p>
          <a:p>
            <a:pPr>
              <a:lnSpc>
                <a:spcPct val="150000"/>
              </a:lnSpc>
            </a:pPr>
            <a:r>
              <a:rPr lang="en-IN" sz="2400" dirty="0" err="1"/>
              <a:t>Numpy</a:t>
            </a:r>
            <a:endParaRPr lang="en-IN" sz="2400" dirty="0"/>
          </a:p>
          <a:p>
            <a:pPr>
              <a:lnSpc>
                <a:spcPct val="150000"/>
              </a:lnSpc>
            </a:pPr>
            <a:r>
              <a:rPr lang="en-IN" sz="2400" dirty="0"/>
              <a:t>Pandas</a:t>
            </a:r>
          </a:p>
          <a:p>
            <a:pPr>
              <a:lnSpc>
                <a:spcPct val="150000"/>
              </a:lnSpc>
            </a:pPr>
            <a:r>
              <a:rPr lang="en-IN" sz="2400" dirty="0" err="1"/>
              <a:t>SentencePiece</a:t>
            </a:r>
            <a:endParaRPr lang="en-IN" sz="2400" dirty="0"/>
          </a:p>
        </p:txBody>
      </p:sp>
    </p:spTree>
    <p:extLst>
      <p:ext uri="{BB962C8B-B14F-4D97-AF65-F5344CB8AC3E}">
        <p14:creationId xmlns:p14="http://schemas.microsoft.com/office/powerpoint/2010/main" val="47599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a:t>Conclusion</a:t>
            </a:r>
            <a:endParaRPr lang="en-US" u="sng" dirty="0"/>
          </a:p>
        </p:txBody>
      </p:sp>
      <p:sp>
        <p:nvSpPr>
          <p:cNvPr id="11" name="Slide Number Placeholder 10"/>
          <p:cNvSpPr>
            <a:spLocks noGrp="1"/>
          </p:cNvSpPr>
          <p:nvPr>
            <p:ph type="sldNum" sz="quarter" idx="12"/>
          </p:nvPr>
        </p:nvSpPr>
        <p:spPr/>
        <p:txBody>
          <a:bodyPr/>
          <a:lstStyle/>
          <a:p>
            <a:fld id="{B5CEABB6-07DC-46E8-9B57-56EC44A396E5}" type="slidenum">
              <a:rPr lang="en-US" smtClean="0"/>
              <a:pPr/>
              <a:t>22</a:t>
            </a:fld>
            <a:endParaRPr lang="en-US" dirty="0"/>
          </a:p>
        </p:txBody>
      </p:sp>
      <p:sp>
        <p:nvSpPr>
          <p:cNvPr id="13" name="TextBox 12"/>
          <p:cNvSpPr txBox="1"/>
          <p:nvPr/>
        </p:nvSpPr>
        <p:spPr>
          <a:xfrm>
            <a:off x="5207267" y="1838425"/>
            <a:ext cx="6371925" cy="4708981"/>
          </a:xfrm>
          <a:prstGeom prst="rect">
            <a:avLst/>
          </a:prstGeom>
          <a:noFill/>
        </p:spPr>
        <p:txBody>
          <a:bodyPr wrap="square" rtlCol="0">
            <a:spAutoFit/>
          </a:bodyPr>
          <a:lstStyle/>
          <a:p>
            <a:pPr marL="342900" indent="-342900">
              <a:buFont typeface="Arial" pitchFamily="34" charset="0"/>
              <a:buChar char="•"/>
            </a:pPr>
            <a:r>
              <a:rPr lang="en-US" sz="2000" dirty="0"/>
              <a:t>A </a:t>
            </a:r>
            <a:r>
              <a:rPr lang="en-US" sz="2000" b="1" dirty="0"/>
              <a:t>Seq2Seq-based English–Telugu NMT system</a:t>
            </a:r>
            <a:r>
              <a:rPr lang="en-US" sz="2000" dirty="0"/>
              <a:t> was developed and evaluated.</a:t>
            </a:r>
          </a:p>
          <a:p>
            <a:pPr marL="342900" indent="-342900">
              <a:buFont typeface="Arial" pitchFamily="34" charset="0"/>
              <a:buChar char="•"/>
            </a:pPr>
            <a:r>
              <a:rPr lang="en-US" sz="2000" dirty="0"/>
              <a:t>The model shows </a:t>
            </a:r>
            <a:r>
              <a:rPr lang="en-US" sz="2000" b="1" dirty="0"/>
              <a:t>basic translation capability</a:t>
            </a:r>
            <a:r>
              <a:rPr lang="en-US" sz="2000" dirty="0"/>
              <a:t>, but struggles with </a:t>
            </a:r>
            <a:r>
              <a:rPr lang="en-US" sz="2000" b="1" dirty="0"/>
              <a:t>accuracy, reliability, and robustness</a:t>
            </a:r>
            <a:r>
              <a:rPr lang="en-US" sz="2000" dirty="0"/>
              <a:t>.</a:t>
            </a:r>
          </a:p>
          <a:p>
            <a:pPr marL="342900" indent="-342900">
              <a:buFont typeface="Arial" pitchFamily="34" charset="0"/>
              <a:buChar char="•"/>
            </a:pPr>
            <a:r>
              <a:rPr lang="en-US" sz="2000" b="1" dirty="0"/>
              <a:t>Performance is limited by dataset quality, morphological complexity of Telugu, and lack of contextual understanding.</a:t>
            </a:r>
            <a:endParaRPr lang="en-US" sz="2000" dirty="0"/>
          </a:p>
          <a:p>
            <a:pPr marL="342900" indent="-342900">
              <a:buFont typeface="Arial" pitchFamily="34" charset="0"/>
              <a:buChar char="•"/>
            </a:pPr>
            <a:r>
              <a:rPr lang="en-US" sz="2000" b="1" dirty="0"/>
              <a:t>Insufficient GPU resources</a:t>
            </a:r>
            <a:r>
              <a:rPr lang="en-US" sz="2000" dirty="0"/>
              <a:t> restricted training efficiency and model convergence, leading to slower learning and </a:t>
            </a:r>
            <a:r>
              <a:rPr lang="en-US" sz="2000" dirty="0" err="1"/>
              <a:t>underfitting</a:t>
            </a:r>
            <a:r>
              <a:rPr lang="en-US" sz="2000" dirty="0"/>
              <a:t>.</a:t>
            </a:r>
          </a:p>
          <a:p>
            <a:pPr marL="342900" indent="-342900">
              <a:buFont typeface="Arial" pitchFamily="34" charset="0"/>
              <a:buChar char="•"/>
            </a:pPr>
            <a:r>
              <a:rPr lang="en-US" sz="2000" dirty="0"/>
              <a:t>The study highlights the need for </a:t>
            </a:r>
            <a:r>
              <a:rPr lang="en-US" sz="2000" b="1" dirty="0"/>
              <a:t>powerful GPUs, advanced architectures, and larger datasets</a:t>
            </a:r>
            <a:r>
              <a:rPr lang="en-US" sz="2000" dirty="0"/>
              <a:t> to achieve higher translation quality.</a:t>
            </a:r>
          </a:p>
          <a:p>
            <a:pPr marL="342900" indent="-342900">
              <a:buFont typeface="Arial" pitchFamily="34" charset="0"/>
              <a:buChar char="•"/>
            </a:pP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a:t>Future Scope</a:t>
            </a:r>
            <a:endParaRPr lang="en-US" u="sng" dirty="0"/>
          </a:p>
        </p:txBody>
      </p:sp>
      <p:sp>
        <p:nvSpPr>
          <p:cNvPr id="13" name="Slide Number Placeholder 10"/>
          <p:cNvSpPr>
            <a:spLocks noGrp="1"/>
          </p:cNvSpPr>
          <p:nvPr>
            <p:ph type="sldNum" sz="quarter" idx="12"/>
          </p:nvPr>
        </p:nvSpPr>
        <p:spPr>
          <a:xfrm>
            <a:off x="8610600" y="6356350"/>
            <a:ext cx="2743200" cy="365125"/>
          </a:xfrm>
        </p:spPr>
        <p:txBody>
          <a:bodyPr/>
          <a:lstStyle/>
          <a:p>
            <a:fld id="{B5CEABB6-07DC-46E8-9B57-56EC44A396E5}" type="slidenum">
              <a:rPr lang="en-US" smtClean="0"/>
              <a:pPr/>
              <a:t>23</a:t>
            </a:fld>
            <a:endParaRPr lang="en-US" dirty="0"/>
          </a:p>
        </p:txBody>
      </p:sp>
      <p:sp>
        <p:nvSpPr>
          <p:cNvPr id="14" name="TextBox 13"/>
          <p:cNvSpPr txBox="1"/>
          <p:nvPr/>
        </p:nvSpPr>
        <p:spPr>
          <a:xfrm>
            <a:off x="5101389" y="1703672"/>
            <a:ext cx="6468177" cy="3477875"/>
          </a:xfrm>
          <a:prstGeom prst="rect">
            <a:avLst/>
          </a:prstGeom>
          <a:noFill/>
        </p:spPr>
        <p:txBody>
          <a:bodyPr wrap="square" rtlCol="0">
            <a:spAutoFit/>
          </a:bodyPr>
          <a:lstStyle/>
          <a:p>
            <a:pPr marL="342900" indent="-342900">
              <a:buFont typeface="Arial" pitchFamily="34" charset="0"/>
              <a:buChar char="•"/>
            </a:pPr>
            <a:r>
              <a:rPr lang="en-US" sz="2000" dirty="0"/>
              <a:t>Upgrade the system to </a:t>
            </a:r>
            <a:r>
              <a:rPr lang="en-US" sz="2000" b="1" dirty="0"/>
              <a:t>Transformer-based models</a:t>
            </a:r>
            <a:r>
              <a:rPr lang="en-US" sz="2000" dirty="0"/>
              <a:t> (e.g., BART, </a:t>
            </a:r>
            <a:r>
              <a:rPr lang="en-US" sz="2000" dirty="0" err="1"/>
              <a:t>mBART</a:t>
            </a:r>
            <a:r>
              <a:rPr lang="en-US" sz="2000" dirty="0"/>
              <a:t>, or T5) for improved reliability and fluency.</a:t>
            </a:r>
          </a:p>
          <a:p>
            <a:pPr marL="342900" indent="-342900">
              <a:buFont typeface="Arial" pitchFamily="34" charset="0"/>
              <a:buChar char="•"/>
            </a:pPr>
            <a:r>
              <a:rPr lang="en-US" sz="2000" dirty="0"/>
              <a:t>Utilize </a:t>
            </a:r>
            <a:r>
              <a:rPr lang="en-US" sz="2000" b="1" dirty="0"/>
              <a:t>high-performance GPUs or cloud computing</a:t>
            </a:r>
            <a:r>
              <a:rPr lang="en-US" sz="2000" dirty="0"/>
              <a:t> to enable deeper training and faster convergence.</a:t>
            </a:r>
          </a:p>
          <a:p>
            <a:pPr marL="342900" indent="-342900">
              <a:buFont typeface="Arial" pitchFamily="34" charset="0"/>
              <a:buChar char="•"/>
            </a:pPr>
            <a:r>
              <a:rPr lang="en-US" sz="2000" dirty="0"/>
              <a:t>Expand the </a:t>
            </a:r>
            <a:r>
              <a:rPr lang="en-US" sz="2000" b="1" dirty="0"/>
              <a:t>English–Telugu parallel dataset</a:t>
            </a:r>
            <a:r>
              <a:rPr lang="en-US" sz="2000" dirty="0"/>
              <a:t> with diversified and domain-specific text sources.</a:t>
            </a:r>
          </a:p>
          <a:p>
            <a:pPr marL="342900" indent="-342900">
              <a:buFont typeface="Arial" pitchFamily="34" charset="0"/>
              <a:buChar char="•"/>
            </a:pPr>
            <a:r>
              <a:rPr lang="en-US" sz="2000" dirty="0"/>
              <a:t>Develop a </a:t>
            </a:r>
            <a:r>
              <a:rPr lang="en-US" sz="2000" b="1" dirty="0"/>
              <a:t>web-based or mobile application</a:t>
            </a:r>
            <a:r>
              <a:rPr lang="en-US" sz="2000" dirty="0"/>
              <a:t> for real-time English–Telugu translation and user feedback collection.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1722120" y="173397"/>
            <a:ext cx="5431971" cy="846301"/>
          </a:xfrm>
        </p:spPr>
        <p:txBody>
          <a:bodyPr/>
          <a:lstStyle/>
          <a:p>
            <a:r>
              <a:rPr lang="en-US" u="sng" dirty="0">
                <a:solidFill>
                  <a:schemeClr val="tx1"/>
                </a:solidFill>
              </a:rPr>
              <a:t>References</a:t>
            </a:r>
            <a:endParaRPr lang="en-US" dirty="0">
              <a:solidFill>
                <a:schemeClr val="tx1"/>
              </a:solidFill>
            </a:endParaRP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24</a:t>
            </a:fld>
            <a:endParaRPr lang="en-US" dirty="0"/>
          </a:p>
        </p:txBody>
      </p:sp>
      <p:sp>
        <p:nvSpPr>
          <p:cNvPr id="20" name="TextBox 19">
            <a:extLst>
              <a:ext uri="{FF2B5EF4-FFF2-40B4-BE49-F238E27FC236}">
                <a16:creationId xmlns:a16="http://schemas.microsoft.com/office/drawing/2014/main" id="{FD4894AC-F72D-1B09-B7DE-66BDA3AA62CD}"/>
              </a:ext>
            </a:extLst>
          </p:cNvPr>
          <p:cNvSpPr txBox="1"/>
          <p:nvPr/>
        </p:nvSpPr>
        <p:spPr>
          <a:xfrm>
            <a:off x="584200" y="1019698"/>
            <a:ext cx="10769600" cy="5049139"/>
          </a:xfrm>
          <a:prstGeom prst="rect">
            <a:avLst/>
          </a:prstGeom>
          <a:noFill/>
        </p:spPr>
        <p:txBody>
          <a:bodyPr wrap="square" rtlCol="0">
            <a:spAutoFit/>
          </a:bodyPr>
          <a:lstStyle/>
          <a:p>
            <a:pPr marL="299191" lvl="1">
              <a:lnSpc>
                <a:spcPct val="150000"/>
              </a:lnSpc>
            </a:pPr>
            <a:r>
              <a:rPr lang="en-US" sz="1200" i="1" dirty="0">
                <a:latin typeface="Poppins Italics"/>
                <a:ea typeface="Poppins Italics"/>
                <a:cs typeface="Poppins Italics"/>
                <a:sym typeface="Poppins Italics"/>
              </a:rPr>
              <a:t>[1] M. Asmitha and C. R. Kavitha, “Bridging the Language Gap: Enhancing English-to-Telugu Translation using NMT and Encoding Decoding Techniques”, ICCCNT 2024, IEEE, 2024. https://ieeexplore-ieee-org.vitaplibrary.remotexs.in/document/10724821</a:t>
            </a:r>
          </a:p>
          <a:p>
            <a:pPr marL="299191" lvl="1">
              <a:lnSpc>
                <a:spcPct val="150000"/>
              </a:lnSpc>
            </a:pPr>
            <a:r>
              <a:rPr lang="en-US" sz="1200" i="1" dirty="0">
                <a:latin typeface="Poppins Italics"/>
                <a:ea typeface="Poppins Italics"/>
                <a:cs typeface="Poppins Italics"/>
                <a:sym typeface="Poppins Italics"/>
              </a:rPr>
              <a:t>[2] R. Naveen and A. Praveen Kumar, “Analysis of Neural Machine Translation for English to Hindi using Long Short-Term Memory Model and Transformer Model”, ICSES 2024, IEEE, 2024. https://ieeexplore-ieee-org.vitaplibrary.remotexs.in/document/10763246</a:t>
            </a:r>
          </a:p>
          <a:p>
            <a:pPr marL="299191" lvl="1">
              <a:lnSpc>
                <a:spcPct val="150000"/>
              </a:lnSpc>
            </a:pPr>
            <a:r>
              <a:rPr lang="en-US" sz="1200" i="1" dirty="0">
                <a:latin typeface="Poppins Italics"/>
                <a:ea typeface="Poppins Italics"/>
                <a:cs typeface="Poppins Italics"/>
                <a:sym typeface="Poppins Italics"/>
              </a:rPr>
              <a:t>[3] N. Jayanthi, A. Lakshmi, C. Suresh Kumar Raju, and B. Swathi, “Dual Translation of International and Indian Regional Language using Recent Machine Translation”, ICISS 2020, IEEE, 2020. https://ieeexplore-ieee-org.vitaplibrary.remotexs.in/document/9316016</a:t>
            </a:r>
          </a:p>
          <a:p>
            <a:pPr marL="299191" lvl="1">
              <a:lnSpc>
                <a:spcPct val="150000"/>
              </a:lnSpc>
            </a:pPr>
            <a:r>
              <a:rPr lang="en-US" sz="1200" i="1" dirty="0">
                <a:latin typeface="Poppins Italics"/>
                <a:ea typeface="Poppins Italics"/>
                <a:cs typeface="Poppins Italics"/>
                <a:sym typeface="Poppins Italics"/>
              </a:rPr>
              <a:t>[4] S. Thakur and J. Srivastava, “Enhancing Medium-Sized Sentence Translation in English-Hindi NMT Using Clause-Based Approach”, ICCCNT 2024, IEEE, 2024.</a:t>
            </a:r>
            <a:br>
              <a:rPr lang="en-US" sz="1200" i="1" dirty="0">
                <a:latin typeface="Poppins Italics"/>
                <a:ea typeface="Poppins Italics"/>
                <a:cs typeface="Poppins Italics"/>
                <a:sym typeface="Poppins Italics"/>
              </a:rPr>
            </a:br>
            <a:r>
              <a:rPr lang="en-US" sz="1200" i="1" dirty="0">
                <a:latin typeface="Poppins Italics"/>
                <a:ea typeface="Poppins Italics"/>
                <a:cs typeface="Poppins Italics"/>
                <a:sym typeface="Poppins Italics"/>
              </a:rPr>
              <a:t>https://ieeexplore-ieee-org.vitaplibrary.remotexs.in/document/10725451</a:t>
            </a:r>
          </a:p>
          <a:p>
            <a:pPr marL="299191" lvl="1">
              <a:lnSpc>
                <a:spcPct val="150000"/>
              </a:lnSpc>
            </a:pPr>
            <a:r>
              <a:rPr lang="en-US" sz="1200" i="1" dirty="0">
                <a:latin typeface="Poppins Italics"/>
                <a:ea typeface="Poppins Italics"/>
                <a:cs typeface="Poppins Italics"/>
                <a:sym typeface="Poppins Italics"/>
              </a:rPr>
              <a:t>[5] P. Gupta and B. K. Joshi, “Improved English to Hindi MT using Long Short-Term Memory”, </a:t>
            </a:r>
            <a:r>
              <a:rPr lang="en-US" sz="1200" i="1" dirty="0" err="1">
                <a:latin typeface="Poppins Italics"/>
                <a:ea typeface="Poppins Italics"/>
                <a:cs typeface="Poppins Italics"/>
                <a:sym typeface="Poppins Italics"/>
              </a:rPr>
              <a:t>INDIACom</a:t>
            </a:r>
            <a:r>
              <a:rPr lang="en-US" sz="1200" i="1" dirty="0">
                <a:latin typeface="Poppins Italics"/>
                <a:ea typeface="Poppins Italics"/>
                <a:cs typeface="Poppins Italics"/>
                <a:sym typeface="Poppins Italics"/>
              </a:rPr>
              <a:t> 2022, IEEE, 2022.</a:t>
            </a:r>
            <a:br>
              <a:rPr lang="en-US" sz="1200" i="1" dirty="0">
                <a:latin typeface="Poppins Italics"/>
                <a:ea typeface="Poppins Italics"/>
                <a:cs typeface="Poppins Italics"/>
                <a:sym typeface="Poppins Italics"/>
              </a:rPr>
            </a:br>
            <a:r>
              <a:rPr lang="en-US" sz="1200" i="1" dirty="0">
                <a:latin typeface="Poppins Italics"/>
                <a:ea typeface="Poppins Italics"/>
                <a:cs typeface="Poppins Italics"/>
                <a:sym typeface="Poppins Italics"/>
              </a:rPr>
              <a:t>https://ieeexplore-ieee-org.vitaplibrary.remotexs.in/document/9788235</a:t>
            </a:r>
          </a:p>
          <a:p>
            <a:pPr marL="299191" lvl="1">
              <a:lnSpc>
                <a:spcPct val="150000"/>
              </a:lnSpc>
            </a:pPr>
            <a:r>
              <a:rPr lang="en-US" sz="1200" i="1" dirty="0">
                <a:latin typeface="Poppins Italics"/>
                <a:ea typeface="Poppins Italics"/>
                <a:cs typeface="Poppins Italics"/>
                <a:sym typeface="Poppins Italics"/>
              </a:rPr>
              <a:t>[6] S. R. Laskar, A. Dutta, P. </a:t>
            </a:r>
            <a:r>
              <a:rPr lang="en-US" sz="1200" i="1" dirty="0" err="1">
                <a:latin typeface="Poppins Italics"/>
                <a:ea typeface="Poppins Italics"/>
                <a:cs typeface="Poppins Italics"/>
                <a:sym typeface="Poppins Italics"/>
              </a:rPr>
              <a:t>Pakray</a:t>
            </a:r>
            <a:r>
              <a:rPr lang="en-US" sz="1200" i="1" dirty="0">
                <a:latin typeface="Poppins Italics"/>
                <a:ea typeface="Poppins Italics"/>
                <a:cs typeface="Poppins Italics"/>
                <a:sym typeface="Poppins Italics"/>
              </a:rPr>
              <a:t>, and S. Bandyopadhyay, “Neural Machine Translation: English to Hindi”, CICT 2019, IEEE, 2019.</a:t>
            </a:r>
            <a:br>
              <a:rPr lang="en-US" sz="1200" i="1" dirty="0">
                <a:latin typeface="Poppins Italics"/>
                <a:ea typeface="Poppins Italics"/>
                <a:cs typeface="Poppins Italics"/>
                <a:sym typeface="Poppins Italics"/>
              </a:rPr>
            </a:br>
            <a:r>
              <a:rPr lang="en-US" sz="1200" i="1" dirty="0">
                <a:latin typeface="Poppins Italics"/>
                <a:ea typeface="Poppins Italics"/>
                <a:cs typeface="Poppins Italics"/>
                <a:sym typeface="Poppins Italics"/>
              </a:rPr>
              <a:t>https://ieeexplore-ieee-org.vitaplibrary.remotexs.in/document/9066238</a:t>
            </a:r>
          </a:p>
          <a:p>
            <a:pPr marL="299191" lvl="1">
              <a:lnSpc>
                <a:spcPct val="150000"/>
              </a:lnSpc>
            </a:pPr>
            <a:r>
              <a:rPr lang="en-US" sz="1200" i="1" dirty="0">
                <a:latin typeface="Poppins Italics"/>
                <a:ea typeface="Poppins Italics"/>
                <a:cs typeface="Poppins Italics"/>
                <a:sym typeface="Poppins Italics"/>
              </a:rPr>
              <a:t>[7] N. </a:t>
            </a:r>
            <a:r>
              <a:rPr lang="en-US" sz="1200" i="1" dirty="0" err="1">
                <a:latin typeface="Poppins Italics"/>
                <a:ea typeface="Poppins Italics"/>
                <a:cs typeface="Poppins Italics"/>
                <a:sym typeface="Poppins Italics"/>
              </a:rPr>
              <a:t>Biraja</a:t>
            </a:r>
            <a:r>
              <a:rPr lang="en-US" sz="1200" i="1" dirty="0">
                <a:latin typeface="Poppins Italics"/>
                <a:ea typeface="Poppins Italics"/>
                <a:cs typeface="Poppins Italics"/>
                <a:sym typeface="Poppins Italics"/>
              </a:rPr>
              <a:t> Isac and H. Das, “Transformer vs. LSTM: Evaluating Machine Translation Models for Sanskrit to English and Sanskrit to Hindi Datasets”, IDSTA 2024, IEEE, 2024. https://ieeexplore-ieee-org.vitaplibrary.remotexs.in/document/10722015</a:t>
            </a:r>
          </a:p>
          <a:p>
            <a:pPr marL="299191" lvl="1">
              <a:lnSpc>
                <a:spcPct val="150000"/>
              </a:lnSpc>
            </a:pPr>
            <a:r>
              <a:rPr lang="en-US" sz="1200" i="1" dirty="0">
                <a:latin typeface="Poppins Italics"/>
                <a:ea typeface="Poppins Italics"/>
                <a:cs typeface="Poppins Italics"/>
                <a:sym typeface="Poppins Italics"/>
              </a:rPr>
              <a:t>[8] A. Naik, M. Karani, K. Chheda, and M. Gada, “NMT for English-Marathi using RNNs &amp; Attention”, IBSSC 2022, IEEE, 2022.</a:t>
            </a:r>
            <a:br>
              <a:rPr lang="en-US" sz="1200" i="1" dirty="0">
                <a:latin typeface="Poppins Italics"/>
                <a:ea typeface="Poppins Italics"/>
                <a:cs typeface="Poppins Italics"/>
                <a:sym typeface="Poppins Italics"/>
              </a:rPr>
            </a:br>
            <a:r>
              <a:rPr lang="en-US" sz="1200" i="1" dirty="0">
                <a:latin typeface="Poppins Italics"/>
                <a:ea typeface="Poppins Italics"/>
                <a:cs typeface="Poppins Italics"/>
                <a:sym typeface="Poppins Italics"/>
              </a:rPr>
              <a:t>https://ieeexplore-ieee-org.vitaplibrary.remotexs.in/document/10010782/</a:t>
            </a:r>
          </a:p>
          <a:p>
            <a:pPr marL="299191" lvl="1">
              <a:lnSpc>
                <a:spcPct val="150000"/>
              </a:lnSpc>
            </a:pPr>
            <a:r>
              <a:rPr lang="en-US" sz="1200" i="1" dirty="0">
                <a:latin typeface="Poppins Italics"/>
                <a:ea typeface="Poppins Italics"/>
                <a:cs typeface="Poppins Italics"/>
                <a:sym typeface="Poppins Italics"/>
              </a:rPr>
              <a:t>[9] M. R. </a:t>
            </a:r>
            <a:r>
              <a:rPr lang="en-US" sz="1200" i="1" dirty="0" err="1">
                <a:latin typeface="Poppins Italics"/>
                <a:ea typeface="Poppins Italics"/>
                <a:cs typeface="Poppins Italics"/>
                <a:sym typeface="Poppins Italics"/>
              </a:rPr>
              <a:t>Suryakusuma</a:t>
            </a:r>
            <a:r>
              <a:rPr lang="en-US" sz="1200" i="1" dirty="0">
                <a:latin typeface="Poppins Italics"/>
                <a:ea typeface="Poppins Italics"/>
                <a:cs typeface="Poppins Italics"/>
                <a:sym typeface="Poppins Italics"/>
              </a:rPr>
              <a:t>, M. F. Ash </a:t>
            </a:r>
            <a:r>
              <a:rPr lang="en-US" sz="1200" i="1" dirty="0" err="1">
                <a:latin typeface="Poppins Italics"/>
                <a:ea typeface="Poppins Italics"/>
                <a:cs typeface="Poppins Italics"/>
                <a:sym typeface="Poppins Italics"/>
              </a:rPr>
              <a:t>Shiddiq</a:t>
            </a:r>
            <a:r>
              <a:rPr lang="en-US" sz="1200" i="1" dirty="0">
                <a:latin typeface="Poppins Italics"/>
                <a:ea typeface="Poppins Italics"/>
                <a:cs typeface="Poppins Italics"/>
                <a:sym typeface="Poppins Italics"/>
              </a:rPr>
              <a:t>, H. Lucky, and I. A. </a:t>
            </a:r>
            <a:r>
              <a:rPr lang="en-US" sz="1200" i="1" dirty="0" err="1">
                <a:latin typeface="Poppins Italics"/>
                <a:ea typeface="Poppins Italics"/>
                <a:cs typeface="Poppins Italics"/>
                <a:sym typeface="Poppins Italics"/>
              </a:rPr>
              <a:t>Iswanto</a:t>
            </a:r>
            <a:r>
              <a:rPr lang="en-US" sz="1200" i="1" dirty="0">
                <a:latin typeface="Poppins Italics"/>
                <a:ea typeface="Poppins Italics"/>
                <a:cs typeface="Poppins Italics"/>
                <a:sym typeface="Poppins Italics"/>
              </a:rPr>
              <a:t>, “Investigating T5 Generation Neural Machine Translation Performance on English to German”, ICIMCIS 2023, IEEE, 2023. https://ieeexplore.ieee.org/document/10349061</a:t>
            </a:r>
            <a:endParaRPr lang="en-IN" sz="1200" dirty="0"/>
          </a:p>
        </p:txBody>
      </p:sp>
    </p:spTree>
    <p:extLst>
      <p:ext uri="{BB962C8B-B14F-4D97-AF65-F5344CB8AC3E}">
        <p14:creationId xmlns:p14="http://schemas.microsoft.com/office/powerpoint/2010/main" val="1472106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25</a:t>
            </a:fld>
            <a:endParaRPr lang="en-US" dirty="0"/>
          </a:p>
        </p:txBody>
      </p:sp>
      <p:sp>
        <p:nvSpPr>
          <p:cNvPr id="5" name="TextBox 4"/>
          <p:cNvSpPr txBox="1"/>
          <p:nvPr/>
        </p:nvSpPr>
        <p:spPr>
          <a:xfrm>
            <a:off x="8585734" y="4456496"/>
            <a:ext cx="3118585" cy="1588127"/>
          </a:xfrm>
          <a:prstGeom prst="rect">
            <a:avLst/>
          </a:prstGeom>
          <a:noFill/>
        </p:spPr>
        <p:txBody>
          <a:bodyPr wrap="square" rtlCol="0">
            <a:spAutoFit/>
          </a:bodyPr>
          <a:lstStyle/>
          <a:p>
            <a:pPr>
              <a:lnSpc>
                <a:spcPct val="90000"/>
              </a:lnSpc>
              <a:spcBef>
                <a:spcPct val="0"/>
              </a:spcBef>
            </a:pPr>
            <a:r>
              <a:rPr lang="en-IN" cap="all" spc="150" dirty="0">
                <a:solidFill>
                  <a:schemeClr val="tx1">
                    <a:lumMod val="75000"/>
                    <a:lumOff val="25000"/>
                  </a:schemeClr>
                </a:solidFill>
                <a:latin typeface="+mj-lt"/>
                <a:ea typeface="+mj-ea"/>
                <a:cs typeface="Times New Roman" pitchFamily="18" charset="0"/>
              </a:rPr>
              <a:t>Team Members:</a:t>
            </a:r>
          </a:p>
          <a:p>
            <a:pPr lvl="1">
              <a:lnSpc>
                <a:spcPct val="90000"/>
              </a:lnSpc>
              <a:spcBef>
                <a:spcPct val="0"/>
              </a:spcBef>
            </a:pPr>
            <a:r>
              <a:rPr lang="en-US" cap="all" spc="150" dirty="0">
                <a:solidFill>
                  <a:schemeClr val="tx1">
                    <a:lumMod val="75000"/>
                    <a:lumOff val="25000"/>
                  </a:schemeClr>
                </a:solidFill>
                <a:latin typeface="+mj-lt"/>
                <a:ea typeface="+mj-ea"/>
                <a:cs typeface="Times New Roman" pitchFamily="18" charset="0"/>
              </a:rPr>
              <a:t>22BCE20302</a:t>
            </a:r>
          </a:p>
          <a:p>
            <a:pPr lvl="1">
              <a:lnSpc>
                <a:spcPct val="90000"/>
              </a:lnSpc>
              <a:spcBef>
                <a:spcPct val="0"/>
              </a:spcBef>
            </a:pPr>
            <a:r>
              <a:rPr lang="en-US" cap="all" spc="150" dirty="0">
                <a:solidFill>
                  <a:schemeClr val="tx1">
                    <a:lumMod val="75000"/>
                    <a:lumOff val="25000"/>
                  </a:schemeClr>
                </a:solidFill>
                <a:latin typeface="+mj-lt"/>
                <a:ea typeface="+mj-ea"/>
                <a:cs typeface="Times New Roman" pitchFamily="18" charset="0"/>
              </a:rPr>
              <a:t>22BCE20324</a:t>
            </a:r>
          </a:p>
          <a:p>
            <a:pPr lvl="1">
              <a:lnSpc>
                <a:spcPct val="90000"/>
              </a:lnSpc>
              <a:spcBef>
                <a:spcPct val="0"/>
              </a:spcBef>
            </a:pPr>
            <a:r>
              <a:rPr lang="en-US" cap="all" spc="150" dirty="0">
                <a:solidFill>
                  <a:schemeClr val="tx1">
                    <a:lumMod val="75000"/>
                    <a:lumOff val="25000"/>
                  </a:schemeClr>
                </a:solidFill>
                <a:latin typeface="+mj-lt"/>
                <a:ea typeface="+mj-ea"/>
                <a:cs typeface="Times New Roman" pitchFamily="18" charset="0"/>
              </a:rPr>
              <a:t>22BCE20327</a:t>
            </a:r>
          </a:p>
          <a:p>
            <a:pPr lvl="1">
              <a:lnSpc>
                <a:spcPct val="90000"/>
              </a:lnSpc>
              <a:spcBef>
                <a:spcPct val="0"/>
              </a:spcBef>
            </a:pPr>
            <a:r>
              <a:rPr lang="en-US" cap="all" spc="150" dirty="0">
                <a:solidFill>
                  <a:schemeClr val="tx1">
                    <a:lumMod val="75000"/>
                    <a:lumOff val="25000"/>
                  </a:schemeClr>
                </a:solidFill>
                <a:latin typeface="+mj-lt"/>
                <a:ea typeface="+mj-ea"/>
                <a:cs typeface="Times New Roman" pitchFamily="18" charset="0"/>
              </a:rPr>
              <a:t>22BCE20507</a:t>
            </a:r>
          </a:p>
          <a:p>
            <a:pPr>
              <a:lnSpc>
                <a:spcPct val="90000"/>
              </a:lnSpc>
              <a:spcBef>
                <a:spcPct val="0"/>
              </a:spcBef>
            </a:pPr>
            <a:endParaRPr lang="en-US" cap="all" spc="150" dirty="0">
              <a:solidFill>
                <a:schemeClr val="tx1">
                  <a:lumMod val="75000"/>
                  <a:lumOff val="25000"/>
                </a:schemeClr>
              </a:solidFill>
              <a:latin typeface="+mj-lt"/>
              <a:ea typeface="+mj-ea"/>
              <a:cs typeface="Times New Roman" pitchFamily="18" charset="0"/>
            </a:endParaRP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66C46A-DC57-4209-80CD-9FE6C93151F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712</TotalTime>
  <Words>1328</Words>
  <Application>Microsoft Office PowerPoint</Application>
  <PresentationFormat>Widescreen</PresentationFormat>
  <Paragraphs>181</Paragraphs>
  <Slides>25</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Poppins</vt:lpstr>
      <vt:lpstr>Poppins Italics</vt:lpstr>
      <vt:lpstr>Tenorite</vt:lpstr>
      <vt:lpstr>Tenorite (Headings)</vt:lpstr>
      <vt:lpstr>Times New Roman</vt:lpstr>
      <vt:lpstr>Monoline</vt:lpstr>
      <vt:lpstr>PowerPoint Presentation</vt:lpstr>
      <vt:lpstr>Introduction</vt:lpstr>
      <vt:lpstr>Motivation</vt:lpstr>
      <vt:lpstr>Objective</vt:lpstr>
      <vt:lpstr>PowerPoint Presentation</vt:lpstr>
      <vt:lpstr>PowerPoint Presentation</vt:lpstr>
      <vt:lpstr>PowerPoint Presentation</vt:lpstr>
      <vt:lpstr>Conclusion from Literature Survey</vt:lpstr>
      <vt:lpstr>Limitations of Existing Methods</vt:lpstr>
      <vt:lpstr>Proposed System</vt:lpstr>
      <vt:lpstr>Preprocessing</vt:lpstr>
      <vt:lpstr>PowerPoint Presentation</vt:lpstr>
      <vt:lpstr>PowerPoint Presentation</vt:lpstr>
      <vt:lpstr>Save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REGIONAL LANGUAGE TRANSLATION:  ENGLISH TO TELUGU USING Seq2Seq MODEL</dc:title>
  <dc:creator>Harsha reddy</dc:creator>
  <cp:lastModifiedBy>Harsha reddy</cp:lastModifiedBy>
  <cp:revision>13</cp:revision>
  <dcterms:created xsi:type="dcterms:W3CDTF">2025-11-07T02:50:08Z</dcterms:created>
  <dcterms:modified xsi:type="dcterms:W3CDTF">2025-11-09T10:27:10Z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